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173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791494"/>
            <a:ext cx="6296860" cy="326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Offline-First Zero-Knowledge Peer-to-Peer Finance Ecosystem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5233360" y="53356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[Student Name] · [Enrollment Number] · Semester VII · Information Technology · [College Name]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612279"/>
            <a:ext cx="1037306" cy="229691"/>
          </a:xfrm>
          <a:prstGeom prst="roundRect">
            <a:avLst>
              <a:gd name="adj" fmla="val 22120"/>
            </a:avLst>
          </a:prstGeom>
          <a:solidFill>
            <a:srgbClr val="252528"/>
          </a:solidFill>
          <a:ln/>
        </p:spPr>
      </p:sp>
      <p:sp>
        <p:nvSpPr>
          <p:cNvPr id="4" name="Text 1"/>
          <p:cNvSpPr/>
          <p:nvPr/>
        </p:nvSpPr>
        <p:spPr>
          <a:xfrm>
            <a:off x="5324044" y="657622"/>
            <a:ext cx="146552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233360" y="89029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Finance Is Broken by Design</a:t>
            </a:r>
            <a:endParaRPr lang="en-US" sz="2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44141"/>
            <a:ext cx="6296860" cy="1084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9814" y="1714401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 at Risk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79814" y="2023170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transaction, wallet balance, and spending habit is uploaded to centralized servers — exposed to breaches, surveillance, and misuse.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49748"/>
            <a:ext cx="6296860" cy="1084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9814" y="2920008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 Dependency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479814" y="3228777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Internet outages halt billing, inventory, and payments. Businesses lose revenue every time connectivity drops.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955355"/>
            <a:ext cx="6296860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9814" y="412561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Centralized Databases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479814" y="4434384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single point of failure. One breach exposes millions of users' financial identities simultaneously.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160963"/>
            <a:ext cx="6296860" cy="10846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79814" y="5331222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Expensive POS Systems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5479814" y="5639991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Point-of-Sale systems demand monthly subscriptions, hardware costs, and internet connectivity — locking small merchants out.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749300"/>
            <a:ext cx="1261535" cy="272752"/>
          </a:xfrm>
          <a:prstGeom prst="roundRect">
            <a:avLst>
              <a:gd name="adj" fmla="val 22121"/>
            </a:avLst>
          </a:prstGeom>
          <a:solidFill>
            <a:srgbClr val="252528"/>
          </a:solidFill>
          <a:ln/>
        </p:spPr>
      </p:sp>
      <p:sp>
        <p:nvSpPr>
          <p:cNvPr id="4" name="Text 1"/>
          <p:cNvSpPr/>
          <p:nvPr/>
        </p:nvSpPr>
        <p:spPr>
          <a:xfrm>
            <a:off x="5341010" y="803077"/>
            <a:ext cx="1655820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233360" y="1090216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Three Apps. One Ecosystem. Zero Compromise.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5233360" y="2468463"/>
            <a:ext cx="3063104" cy="2154932"/>
          </a:xfrm>
          <a:prstGeom prst="roundRect">
            <a:avLst>
              <a:gd name="adj" fmla="val 350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19193" y="2654300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💳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Spendly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419193" y="3037086"/>
            <a:ext cx="269144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 Finance PWA — expense tracking, wallet management, EMI reminders, and complete financial privacy. Data stays on-device.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67017" y="2468463"/>
            <a:ext cx="3063203" cy="2154932"/>
          </a:xfrm>
          <a:prstGeom prst="roundRect">
            <a:avLst>
              <a:gd name="adj" fmla="val 350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2849" y="2654300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Spendly Shop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652849" y="3037086"/>
            <a:ext cx="2691539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Offline Merchant POS — scan products, generate GST invoices, apply discounts, and deliver receipts via WebRTC, QR, or print.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4793952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19193" y="497978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Spendly Radar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419193" y="5362575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Merchant Management Hub — inventory control, stock updates, offer management, and anonymous local business analytics.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46993"/>
            <a:ext cx="1179781" cy="243979"/>
          </a:xfrm>
          <a:prstGeom prst="roundRect">
            <a:avLst>
              <a:gd name="adj" fmla="val 22126"/>
            </a:avLst>
          </a:prstGeom>
          <a:solidFill>
            <a:srgbClr val="252528"/>
          </a:solidFill>
          <a:ln/>
        </p:spPr>
      </p:sp>
      <p:sp>
        <p:nvSpPr>
          <p:cNvPr id="4" name="Text 1"/>
          <p:cNvSpPr/>
          <p:nvPr/>
        </p:nvSpPr>
        <p:spPr>
          <a:xfrm>
            <a:off x="757814" y="595114"/>
            <a:ext cx="159668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4554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661475" y="1552377"/>
            <a:ext cx="6296860" cy="929977"/>
          </a:xfrm>
          <a:prstGeom prst="roundRect">
            <a:avLst>
              <a:gd name="adj" fmla="val 7256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156" y="1732062"/>
            <a:ext cx="59374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 Layer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156" y="2064941"/>
            <a:ext cx="59374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· Vite · Tailwind CSS · Zustand · Framer Motion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2618879"/>
            <a:ext cx="6296860" cy="929977"/>
          </a:xfrm>
          <a:prstGeom prst="roundRect">
            <a:avLst>
              <a:gd name="adj" fmla="val 7256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156" y="2798564"/>
            <a:ext cx="59374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 Storage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1156" y="3131443"/>
            <a:ext cx="59374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IndexedDB · Dexie.js — encrypted local-first database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3685381"/>
            <a:ext cx="6296860" cy="929977"/>
          </a:xfrm>
          <a:prstGeom prst="roundRect">
            <a:avLst>
              <a:gd name="adj" fmla="val 7256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156" y="3865066"/>
            <a:ext cx="59374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Peer Network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41156" y="4197945"/>
            <a:ext cx="59374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WebRTC · PeerJS · ntfy.sh — serverless device-to-device communication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1475" y="4751884"/>
            <a:ext cx="6296860" cy="929977"/>
          </a:xfrm>
          <a:prstGeom prst="roundRect">
            <a:avLst>
              <a:gd name="adj" fmla="val 7256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156" y="4931569"/>
            <a:ext cx="59374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Edge &amp; Security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41156" y="5264448"/>
            <a:ext cx="59374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Cloudflare Workers · Worker KV · WebAuthn · AES-256-GCM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1475" y="5835452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layer operates independently. No single point of failure. No centralized data store. Complete privacy by architecture.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888603"/>
            <a:ext cx="924398" cy="229691"/>
          </a:xfrm>
          <a:prstGeom prst="roundRect">
            <a:avLst>
              <a:gd name="adj" fmla="val 22120"/>
            </a:avLst>
          </a:prstGeom>
          <a:solidFill>
            <a:srgbClr val="252528"/>
          </a:solidFill>
          <a:ln/>
        </p:spPr>
      </p:sp>
      <p:sp>
        <p:nvSpPr>
          <p:cNvPr id="4" name="Text 1"/>
          <p:cNvSpPr/>
          <p:nvPr/>
        </p:nvSpPr>
        <p:spPr>
          <a:xfrm>
            <a:off x="752159" y="933946"/>
            <a:ext cx="13526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ECOSYSTEM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1166614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the Spendly Ecosystem Works</a:t>
            </a:r>
            <a:endParaRPr lang="en-US" sz="2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20466"/>
            <a:ext cx="6296860" cy="13023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199072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💳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Spendly → Personal Finance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2299494"/>
            <a:ext cx="588015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Records expenses, manages wallets, stores invoices locally. Receives encrypted invoices from Spendly Shop via WebRTC. All data protected by WebAuthn biometric authentication.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43759"/>
            <a:ext cx="6296860" cy="13023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28" y="3414018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Spendly Shop → Merchant Billing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07928" y="3722787"/>
            <a:ext cx="588015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Scans products, calculates GST, generates professional invoices. Retrieves pricing from Spendly Radar via peer-to-peer. Delivers receipts via WebRTC, QR, WhatsApp, or print.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67052"/>
            <a:ext cx="6296860" cy="13023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7928" y="4837311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Spendly Radar → Management Hub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07928" y="5146080"/>
            <a:ext cx="588015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 products, inventory, and campaigns locally. Responds instantly to Shop requests. Updates stock post-checkout. Generates anonymous business insights — zero customer data stored.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73671"/>
            <a:ext cx="1278798" cy="287139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30325"/>
            <a:ext cx="16615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364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10532"/>
            <a:ext cx="3496877" cy="1442343"/>
          </a:xfrm>
          <a:prstGeom prst="roundRect">
            <a:avLst>
              <a:gd name="adj" fmla="val 5504"/>
            </a:avLst>
          </a:prstGeom>
          <a:solidFill>
            <a:srgbClr val="2A2A2D">
              <a:alpha val="95000"/>
            </a:srgbClr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5881" y="272494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75881" y="313362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· Vite · Tailwind CSS · Zustand · Framer Motion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510532"/>
            <a:ext cx="3496877" cy="1442343"/>
          </a:xfrm>
          <a:prstGeom prst="roundRect">
            <a:avLst>
              <a:gd name="adj" fmla="val 5504"/>
            </a:avLst>
          </a:prstGeom>
          <a:solidFill>
            <a:srgbClr val="2A2A2D">
              <a:alpha val="95000"/>
            </a:srgbClr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1766" y="272494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61766" y="313362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Cloudflare Workers · Worker KV — serverless edge compute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510532"/>
            <a:ext cx="3496877" cy="1442343"/>
          </a:xfrm>
          <a:prstGeom prst="roundRect">
            <a:avLst>
              <a:gd name="adj" fmla="val 5504"/>
            </a:avLst>
          </a:prstGeom>
          <a:solidFill>
            <a:srgbClr val="2A2A2D">
              <a:alpha val="95000"/>
            </a:srgbClr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650" y="272494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Networking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47650" y="313362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WebRTC · PeerJS · ntfy.sh — peer-to-peer without servers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141887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2A2A2D">
              <a:alpha val="95000"/>
            </a:srgbClr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881" y="4356298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75881" y="4764980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WebAuthn · AES-256-GCM — biometric + military-grade encryption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141887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2A2A2D">
              <a:alpha val="95000"/>
            </a:srgbClr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4708" y="4356298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404708" y="4764980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IndexedDB · Dexie.js — offline-first local storage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33400"/>
            <a:ext cx="668023" cy="197743"/>
          </a:xfrm>
          <a:prstGeom prst="roundRect">
            <a:avLst>
              <a:gd name="adj" fmla="val 22131"/>
            </a:avLst>
          </a:prstGeom>
          <a:solidFill>
            <a:srgbClr val="252528"/>
          </a:solidFill>
          <a:ln/>
        </p:spPr>
      </p:sp>
      <p:sp>
        <p:nvSpPr>
          <p:cNvPr id="4" name="Text 1"/>
          <p:cNvSpPr/>
          <p:nvPr/>
        </p:nvSpPr>
        <p:spPr>
          <a:xfrm>
            <a:off x="739558" y="572393"/>
            <a:ext cx="1121441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766961"/>
            <a:ext cx="6296860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 Knowledge. Zero Compromise.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661475" y="1308497"/>
            <a:ext cx="6296860" cy="1186755"/>
          </a:xfrm>
          <a:prstGeom prst="roundRect">
            <a:avLst>
              <a:gd name="adj" fmla="val 460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7996" y="1445022"/>
            <a:ext cx="390714" cy="390723"/>
          </a:xfrm>
          <a:prstGeom prst="ellipse">
            <a:avLst/>
          </a:prstGeom>
          <a:solidFill>
            <a:srgbClr val="E4E4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448" y="1552377"/>
            <a:ext cx="175811" cy="1758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7996" y="1925439"/>
            <a:ext cx="602381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Zero-Knowledge Architecture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97996" y="2182713"/>
            <a:ext cx="6023816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financial data ever leaves the device. The server knows nothing about your transactions.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61475" y="2584946"/>
            <a:ext cx="6296860" cy="1186755"/>
          </a:xfrm>
          <a:prstGeom prst="roundRect">
            <a:avLst>
              <a:gd name="adj" fmla="val 460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97996" y="2721471"/>
            <a:ext cx="390714" cy="390723"/>
          </a:xfrm>
          <a:prstGeom prst="ellipse">
            <a:avLst/>
          </a:prstGeom>
          <a:solidFill>
            <a:srgbClr val="E4E4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448" y="2828826"/>
            <a:ext cx="175811" cy="1758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7996" y="3201888"/>
            <a:ext cx="602381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Offline-First Design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97996" y="3459163"/>
            <a:ext cx="6023816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functionality without internet. Data syncs peer-to-peer when devices are in range.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61475" y="3861395"/>
            <a:ext cx="6296860" cy="1186755"/>
          </a:xfrm>
          <a:prstGeom prst="roundRect">
            <a:avLst>
              <a:gd name="adj" fmla="val 460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97996" y="3997920"/>
            <a:ext cx="390714" cy="390723"/>
          </a:xfrm>
          <a:prstGeom prst="ellipse">
            <a:avLst/>
          </a:prstGeom>
          <a:solidFill>
            <a:srgbClr val="E4E4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5448" y="4105275"/>
            <a:ext cx="175811" cy="1758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7996" y="4478338"/>
            <a:ext cx="602381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WebAuthn Biometric Unlock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97996" y="4735612"/>
            <a:ext cx="6023816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Hardware-backed authentication. Face ID, Touch ID, or Windows Hello protect every session.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61475" y="5137845"/>
            <a:ext cx="6296860" cy="1186755"/>
          </a:xfrm>
          <a:prstGeom prst="roundRect">
            <a:avLst>
              <a:gd name="adj" fmla="val 460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97996" y="5274370"/>
            <a:ext cx="390714" cy="390723"/>
          </a:xfrm>
          <a:prstGeom prst="ellipse">
            <a:avLst/>
          </a:prstGeom>
          <a:solidFill>
            <a:srgbClr val="E4E4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5448" y="5381724"/>
            <a:ext cx="175811" cy="1758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7996" y="5754787"/>
            <a:ext cx="602381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AES-256-GCM Encryption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97996" y="6012061"/>
            <a:ext cx="6023816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Military-grade encryption for all stored and transmitted financial data.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38659"/>
            <a:ext cx="841056" cy="243979"/>
          </a:xfrm>
          <a:prstGeom prst="roundRect">
            <a:avLst>
              <a:gd name="adj" fmla="val 22126"/>
            </a:avLst>
          </a:prstGeom>
          <a:solidFill>
            <a:srgbClr val="252528"/>
          </a:solidFill>
          <a:ln/>
        </p:spPr>
      </p:sp>
      <p:sp>
        <p:nvSpPr>
          <p:cNvPr id="4" name="Text 1"/>
          <p:cNvSpPr/>
          <p:nvPr/>
        </p:nvSpPr>
        <p:spPr>
          <a:xfrm>
            <a:off x="5329699" y="586780"/>
            <a:ext cx="1257963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837208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Everything You Need. Nothing You Don't.</a:t>
            </a:r>
            <a:endParaRPr lang="en-US" sz="3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046089"/>
            <a:ext cx="321262" cy="3212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5275" y="2101255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Expense Tracking &amp; Analytics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725275" y="2434134"/>
            <a:ext cx="58049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dashboards, wallet balances, and spending insights — generated locally, never uploaded.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82640"/>
            <a:ext cx="321262" cy="3212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25275" y="3237805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Merchant Billing &amp; QR Invoices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725275" y="3570684"/>
            <a:ext cx="58049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Scan, calculate GST, apply discounts, and deliver invoices via WebRTC, QR Code, or WhatsApp.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319191"/>
            <a:ext cx="321262" cy="3212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25275" y="4374356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Inventory &amp; Stock Management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5725275" y="4707235"/>
            <a:ext cx="58049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products, update stock post-checkout, and manage promotional campaigns from Radar.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455741"/>
            <a:ext cx="321262" cy="3212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725275" y="5510907"/>
            <a:ext cx="58049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Cash Wallet &amp; EMI Reminders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5725275" y="5843786"/>
            <a:ext cx="58049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 cash balances and track EMI schedules — all stored securely inside IndexedDB.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69119"/>
            <a:ext cx="1130073" cy="258465"/>
          </a:xfrm>
          <a:prstGeom prst="roundRect">
            <a:avLst>
              <a:gd name="adj" fmla="val 22115"/>
            </a:avLst>
          </a:prstGeom>
          <a:solidFill>
            <a:srgbClr val="252528"/>
          </a:solidFill>
          <a:ln/>
        </p:spPr>
      </p:sp>
      <p:sp>
        <p:nvSpPr>
          <p:cNvPr id="4" name="Text 1"/>
          <p:cNvSpPr/>
          <p:nvPr/>
        </p:nvSpPr>
        <p:spPr>
          <a:xfrm>
            <a:off x="5335355" y="620117"/>
            <a:ext cx="153566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888802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Advantages &amp; Future Scope</a:t>
            </a:r>
            <a:endParaRPr lang="en-US" sz="3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650008"/>
            <a:ext cx="6296860" cy="2242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8665" y="1839119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Today's Advantages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5498665" y="2196604"/>
            <a:ext cx="5842449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Offline-First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fully functional without internet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Zero Server Cost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 infrastructure, no subscriptions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Privacy by Design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zero-knowledge, on-device storage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Fast Billing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instant peer-to-peer invoice delivery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Secure Communication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encrypted WebRTC channels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045942"/>
            <a:ext cx="6296860" cy="2242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8665" y="4235053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Roadmap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498665" y="4592538"/>
            <a:ext cx="5842449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AI Analytics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intelligent spending insights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Voice Billing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hands-free merchant interaction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NFC &amp; UPI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contactless payment integration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GST Compliance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automated tax filing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Multi-Store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chain merchant support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54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69566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Privacy-First. Offline-Ready. Peer-to-Peer.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661475" y="368339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 redefines personal and merchant finance through zero-knowledge architecture, offline-first design, and encrypted peer-to-peer communication — no centralized servers, no data exposure, no compromise.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548088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CFD0D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90418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  <a:endParaRPr lang="en-US" sz="2950" dirty="0"/>
          </a:p>
        </p:txBody>
      </p:sp>
      <p:sp>
        <p:nvSpPr>
          <p:cNvPr id="7" name="Text 5"/>
          <p:cNvSpPr/>
          <p:nvPr/>
        </p:nvSpPr>
        <p:spPr>
          <a:xfrm>
            <a:off x="661475" y="566013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 &amp; Answers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2026-07-23T17:45:59Z</dcterms:created>
  <dcterms:modified xsi:type="dcterms:W3CDTF">2026-07-23T17:45:59Z</dcterms:modified>
</cp:coreProperties>
</file>