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Thin"/>
      <p:regular r:id="rId201314"/>
    </p:embeddedFont>
    <p:embeddedFont>
      <p:font typeface="Montserrat"/>
      <p:regular r:id="rId201315"/>
    </p:embeddedFont>
    <p:embeddedFont>
      <p:font typeface="Montserrat SemiBold"/>
      <p:regular r:id="rId201316"/>
    </p:embeddedFont>
    <p:embeddedFont>
      <p:font typeface="Montserrat Bold"/>
      <p:regular r:id="rId201317"/>
    </p:embeddedFont>
    <p:embeddedFont>
      <p:font typeface="Montserrat Black"/>
      <p:regular r:id="rId201318"/>
    </p:embeddedFont>
    <p:embeddedFont>
      <p:font typeface="Montserrat Light"/>
      <p:regular r:id="rId201319"/>
    </p:embeddedFont>
    <p:embeddedFont>
      <p:font typeface="Montserrat ExtraLight"/>
      <p:regular r:id="rId201320"/>
    </p:embeddedFont>
    <p:embeddedFont>
      <p:font typeface="Montserrat Medium"/>
      <p:regular r:id="rId201321"/>
    </p:embeddedFont>
    <p:embeddedFont>
      <p:font typeface="Montserrat ExtraBold"/>
      <p:regular r:id="rId201322"/>
    </p:embeddedFont>
    <p:embeddedFont>
      <p:font typeface="Source Sans 3 ExtraLight"/>
      <p:regular r:id="rId201323"/>
    </p:embeddedFont>
    <p:embeddedFont>
      <p:font typeface="Source Sans 3 Light"/>
      <p:regular r:id="rId201324"/>
    </p:embeddedFont>
    <p:embeddedFont>
      <p:font typeface="Source Sans 3"/>
      <p:regular r:id="rId201325"/>
    </p:embeddedFont>
    <p:embeddedFont>
      <p:font typeface="Source Sans 3 Medium"/>
      <p:regular r:id="rId201326"/>
    </p:embeddedFont>
    <p:embeddedFont>
      <p:font typeface="Source Sans 3 SemiBold"/>
      <p:regular r:id="rId201327"/>
    </p:embeddedFont>
    <p:embeddedFont>
      <p:font typeface="Source Sans 3 Bold"/>
      <p:regular r:id="rId201328"/>
    </p:embeddedFont>
    <p:embeddedFont>
      <p:font typeface="Source Sans 3 ExtraBold"/>
      <p:regular r:id="rId201329"/>
    </p:embeddedFont>
    <p:embeddedFont>
      <p:font typeface="Source Sans 3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222375"/>
            <a:ext cx="6180181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91700" y="2003524"/>
            <a:ext cx="6180181" cy="282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Offline-First Zero-Knowledge Peer-to-Peer Finance Ecosystem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291700" y="5095577"/>
            <a:ext cx="618018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[Student Name] · [Enrollment Number] · Semester VII · Information Technology · [College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91700" y="500658"/>
            <a:ext cx="868043" cy="218777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78018" y="543818"/>
            <a:ext cx="1304992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91700" y="765473"/>
            <a:ext cx="618018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Finance Today Is Broken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5291700" y="1347192"/>
            <a:ext cx="618018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Modern payment systems are built on fragile assumptions — always-on internet, trusted third parties, and centralized data stores. Every transaction leaks metadata. Every POS terminal charges a premium. Every breach exposes everything.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700" y="2059583"/>
            <a:ext cx="6180181" cy="988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30910" y="2222599"/>
            <a:ext cx="5777959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Privacy Collapse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530910" y="2496145"/>
            <a:ext cx="577795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purchase is logged, tracked, and monetized. Centralized databases are single points of catastrophic failure.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700" y="3162796"/>
            <a:ext cx="6180181" cy="9881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30910" y="3325813"/>
            <a:ext cx="5777959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Dependency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530910" y="3599359"/>
            <a:ext cx="577795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Offline environments render most fintech systems completely inoperable. Rural and low-connectivity markets are excluded.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700" y="4266009"/>
            <a:ext cx="6180181" cy="9881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30910" y="4429026"/>
            <a:ext cx="5777959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 Cost Burden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5530910" y="4702572"/>
            <a:ext cx="577795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Monthly hardware and subscription fees make digital billing inaccessible for small merchants and micro-enterprises.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1700" y="5369223"/>
            <a:ext cx="6180181" cy="9881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30910" y="5532239"/>
            <a:ext cx="5777959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Breach Risk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5530910" y="5805785"/>
            <a:ext cx="5777959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single server compromise exposes millions of users. Centralized architecture is structurally indefensible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9814" y="601365"/>
            <a:ext cx="1125906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7761" y="655340"/>
            <a:ext cx="1519596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9814" y="946745"/>
            <a:ext cx="6180181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Introducing Spendly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19814" y="1727895"/>
            <a:ext cx="618018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interconnected applications — one unified ecosystem. Spendly reimagines peer-to-peer finance as a privacy-preserving, offline-capable, zero-infrastructure system built for the real world.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9814" y="2740223"/>
            <a:ext cx="3000102" cy="2073176"/>
          </a:xfrm>
          <a:prstGeom prst="roundRect">
            <a:avLst>
              <a:gd name="adj" fmla="val 1302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899693" y="2920107"/>
            <a:ext cx="264034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9693" y="3283645"/>
            <a:ext cx="2640343" cy="134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consumer wallet. Offline expense tracking, encrypted invoices, biometric authentication, and peer-to-peer settlement — all without a server.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99795" y="2740223"/>
            <a:ext cx="3000201" cy="2073176"/>
          </a:xfrm>
          <a:prstGeom prst="roundRect">
            <a:avLst>
              <a:gd name="adj" fmla="val 1302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4079674" y="2920107"/>
            <a:ext cx="264044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 Shop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79674" y="3283645"/>
            <a:ext cx="2640443" cy="134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merchant POS. Barcode scanning, inventory management, QR invoicing, and cash wallet — zero monthly fees, zero internet required.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9814" y="4993283"/>
            <a:ext cx="6180181" cy="126325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14" name="Text 11"/>
          <p:cNvSpPr/>
          <p:nvPr/>
        </p:nvSpPr>
        <p:spPr>
          <a:xfrm>
            <a:off x="899693" y="5173166"/>
            <a:ext cx="582042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 Radar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99693" y="5536704"/>
            <a:ext cx="5820423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discovery layer. Proximity-based offer detection, coupon claiming, and encrypted peer communication through WebRTC mesh networking.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519311"/>
            <a:ext cx="919735" cy="218777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6132" y="562471"/>
            <a:ext cx="1356683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9814" y="784126"/>
            <a:ext cx="1075206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19814" y="1365845"/>
            <a:ext cx="1075206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Spendly's architecture is an exploded layered stack — each technology occupies a precise stratum, from the reactive interface down to cryptographic storage. No layer depends on a central authority.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021" y="1883966"/>
            <a:ext cx="8601654" cy="39366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5767" y="2412770"/>
            <a:ext cx="1729674" cy="216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 &amp; 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767" y="2696608"/>
            <a:ext cx="2097279" cy="342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Dexie IndexedDB with AES-256-GCM encryption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196904" y="3706688"/>
            <a:ext cx="1729674" cy="216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Networking Layer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998434" y="3990526"/>
            <a:ext cx="1928144" cy="342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WebRTC, PeerJS, Cloudflare Workers KV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095767" y="4374790"/>
            <a:ext cx="1729674" cy="216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Infrastructure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95767" y="4658628"/>
            <a:ext cx="2097279" cy="342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Zero-server, offline-first, secure enclave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9814" y="5950148"/>
            <a:ext cx="1075206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and PWA deliver the interface. IndexedDB with Dexie.js provides structured local persistence. WebRTC and PeerJS enable direct device-to-device communication. Cloudflare Workers with KV offer optional edge caching. WebAuthn and AES-256-GCM secure every layer — all without a central database.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9814" y="715665"/>
            <a:ext cx="1005358" cy="232470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11589" y="761504"/>
            <a:ext cx="1431393" cy="14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WORKING FLOW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19814" y="1000125"/>
            <a:ext cx="6180181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From Discovery to Settlement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9814" y="1629668"/>
            <a:ext cx="30588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9814" y="1870571"/>
            <a:ext cx="6180181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719814" y="1985070"/>
            <a:ext cx="61801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Offer Discovery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9814" y="2280345"/>
            <a:ext cx="6180181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Spendly Radar detects proximity-based merchant offers through encrypted peer signaling.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9814" y="2737247"/>
            <a:ext cx="30588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9814" y="2978150"/>
            <a:ext cx="6180181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19814" y="3092648"/>
            <a:ext cx="61801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Coupon Claim &amp; Barcode Scan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19814" y="3387923"/>
            <a:ext cx="6180181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claims offer; merchant scans product barcode via Spendly Shop for instant lookup.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19814" y="3844826"/>
            <a:ext cx="30588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9814" y="4085729"/>
            <a:ext cx="6180181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719814" y="4200227"/>
            <a:ext cx="61801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Offer Validation &amp; Invoice Generation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9814" y="4495502"/>
            <a:ext cx="6180181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validates eligibility, applies discount, and generates a cryptographically signed invoice.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9814" y="4952405"/>
            <a:ext cx="30588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9814" y="5193308"/>
            <a:ext cx="6180181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719814" y="5307806"/>
            <a:ext cx="61801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Invoice Sharing &amp; Expense Analytics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19814" y="5603081"/>
            <a:ext cx="6180181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Invoice transfers peer-to-peer via WebRTC; expense is logged locally with real-time savings analytics.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912019"/>
            <a:ext cx="1052387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761" y="965994"/>
            <a:ext cx="1446077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257399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Technology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9814" y="2038548"/>
            <a:ext cx="1075206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technology in Spendly was selected for a single reason: it must work without a server. The stack is lean, modern, and purpose-built for offline-first cryptography.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9814" y="2960787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 &amp; UI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9814" y="3396258"/>
            <a:ext cx="5156468" cy="935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React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Component-driven reactive interface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PWA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Installable, offline-capable web app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WebAuthn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Biometric and hardware-key authentication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9814" y="4511873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 &amp; Storage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814" y="4947345"/>
            <a:ext cx="5156468" cy="872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IndexedDB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Browser-native structured local storage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Dexie.js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Ergonomic IndexedDB wrapper with schema versioning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21763" y="2960787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Networking &amp; Edge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1763" y="3396258"/>
            <a:ext cx="5156468" cy="1268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WebRTC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Direct peer-to-peer data channels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PeerJS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Simplified WebRTC signaling abstraction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Cloudflare Workers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Optional serverless edge functions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Worker KV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Distributed key-value edge storage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1763" y="4844752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21763" y="5280223"/>
            <a:ext cx="5156468" cy="6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AES-256-GCM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Authenticated encryption for all stored data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Secure Enclave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Hardware-backed key isolation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91700" y="500658"/>
            <a:ext cx="643715" cy="218777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78018" y="543818"/>
            <a:ext cx="1080664" cy="13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91700" y="765473"/>
            <a:ext cx="6180181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Zero-Knowledge by Design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5291700" y="1347192"/>
            <a:ext cx="618018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Spendly never transmits raw financial data. Every record is encrypted before storage. Every authentication is local. Every transaction is peer-to-peer. The server knows nothing — because there is no server.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91700" y="2059583"/>
            <a:ext cx="6180181" cy="988120"/>
          </a:xfrm>
          <a:prstGeom prst="roundRect">
            <a:avLst>
              <a:gd name="adj" fmla="val 2186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4712" y="2222599"/>
            <a:ext cx="58541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Zero-Knowledge Architecture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54712" y="2496145"/>
            <a:ext cx="585415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plaintext data ever leaves the device. The system proves validity without revealing content — mathematically, not trust-based.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91700" y="3162796"/>
            <a:ext cx="6180181" cy="988120"/>
          </a:xfrm>
          <a:prstGeom prst="roundRect">
            <a:avLst>
              <a:gd name="adj" fmla="val 2186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54712" y="3325813"/>
            <a:ext cx="58541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Offline-First Encryption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54712" y="3599359"/>
            <a:ext cx="585415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AES-256-GCM encrypts all IndexedDB records at rest. Keys are derived from biometric credentials and never transmitted.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91700" y="4266009"/>
            <a:ext cx="6180181" cy="988120"/>
          </a:xfrm>
          <a:prstGeom prst="roundRect">
            <a:avLst>
              <a:gd name="adj" fmla="val 2186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54712" y="4429026"/>
            <a:ext cx="58541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WebAuthn Biometric Unlock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54712" y="4702572"/>
            <a:ext cx="585415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FIDO2-compliant authentication binds access to hardware-backed biometrics. No passwords. No recovery emails. No attack surface.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91700" y="5369223"/>
            <a:ext cx="6180181" cy="988120"/>
          </a:xfrm>
          <a:prstGeom prst="roundRect">
            <a:avLst>
              <a:gd name="adj" fmla="val 2186"/>
            </a:avLst>
          </a:prstGeom>
          <a:solidFill>
            <a:srgbClr val="111213"/>
          </a:solidFill>
          <a:ln w="19050">
            <a:solidFill>
              <a:srgbClr val="494A4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54712" y="5532239"/>
            <a:ext cx="585415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Secure Enclave Isolation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54712" y="5805785"/>
            <a:ext cx="5854157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Cryptographic keys are stored in hardware-isolated secure enclaves — inaccessible to the application layer or any remote adversary.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9814" y="667742"/>
            <a:ext cx="628337" cy="20508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0774" y="708223"/>
            <a:ext cx="1076000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9814" y="913309"/>
            <a:ext cx="6180181" cy="766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Everything a Modern Finance System Needs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1832074"/>
            <a:ext cx="337435" cy="3374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9814" y="2296021"/>
            <a:ext cx="61801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Expense Tracking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19814" y="2548434"/>
            <a:ext cx="61801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local categorization with encrypted ledger history — fully operational without connectivity.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2927945"/>
            <a:ext cx="337435" cy="3374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814" y="3391892"/>
            <a:ext cx="61801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Merchant Billing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19814" y="3644305"/>
            <a:ext cx="61801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QR invoice generation, barcode product lookup, and digital receipt delivery — zero hardware cost.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814" y="4023816"/>
            <a:ext cx="337435" cy="3374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9814" y="4487763"/>
            <a:ext cx="61801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Inventory &amp; Cash Wallet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19814" y="4740176"/>
            <a:ext cx="61801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 stock management with cash balance tracking and EMI alert notifications for merchants.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9814" y="5119687"/>
            <a:ext cx="337435" cy="3374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9814" y="5583634"/>
            <a:ext cx="6180181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 Sync &amp; Analytics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19814" y="5836047"/>
            <a:ext cx="6180181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syncs peer-to-peer when connectivity resumes. Spending insights are computed locally — never in the cloud.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814" y="1725811"/>
            <a:ext cx="1765653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7761" y="1779786"/>
            <a:ext cx="215934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ADVANTAGES &amp;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2071191"/>
            <a:ext cx="10752067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Spendly Delivers — and Where It Goes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0138" y="2852341"/>
            <a:ext cx="5415819" cy="2279749"/>
          </a:xfrm>
          <a:prstGeom prst="roundRect">
            <a:avLst>
              <a:gd name="adj" fmla="val 1184"/>
            </a:avLst>
          </a:prstGeom>
          <a:solidFill>
            <a:srgbClr val="1D1F22"/>
          </a:solidFill>
          <a:ln/>
        </p:spPr>
      </p:sp>
      <p:sp>
        <p:nvSpPr>
          <p:cNvPr id="6" name="Text 4"/>
          <p:cNvSpPr/>
          <p:nvPr/>
        </p:nvSpPr>
        <p:spPr>
          <a:xfrm>
            <a:off x="770017" y="3032224"/>
            <a:ext cx="505606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Current Advantages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0017" y="3467695"/>
            <a:ext cx="5056061" cy="160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Offline-First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Fully functional without internet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Zero Server Cost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No infrastructure, no subscription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Privacy-Preserving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Zero-knowledge, local-only data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Fast Billing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Sub-second QR and barcode processing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P2P Communication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Direct device-to-device settlement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1763" y="3032224"/>
            <a:ext cx="5156468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1763" y="3467695"/>
            <a:ext cx="5156468" cy="1601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AI Insights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On-device spending pattern analysis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Voice Billing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Voice-command invoice generation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UPI &amp; NFC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Native Indian payment rail integration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GST Compliance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Automated tax invoice formatting</a:t>
            </a:r>
            <a:endParaRPr lang="en-US" sz="1400" dirty="0"/>
          </a:p>
          <a:p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Multi-Store</a:t>
            </a:r>
            <a:pPr algn="l" marL="284480" indent="-28448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Chain merchant management layer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91700" y="672009"/>
            <a:ext cx="1025003" cy="273447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99647" y="725984"/>
            <a:ext cx="141869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291700" y="1017389"/>
            <a:ext cx="6180181" cy="102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Spendly Is Not a Feature. It Is a Foundation.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291700" y="2309813"/>
            <a:ext cx="618018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Spendly demonstrates that privacy, offline capability, and peer-to-peer finance are not compromises — they are design imperatives. Built without a server, without a database, without a cloud. Built for the world as it actually exists.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91700" y="3322141"/>
            <a:ext cx="6180181" cy="1986558"/>
          </a:xfrm>
          <a:prstGeom prst="roundRect">
            <a:avLst>
              <a:gd name="adj" fmla="val 1359"/>
            </a:avLst>
          </a:prstGeom>
          <a:solidFill>
            <a:srgbClr val="303132"/>
          </a:solidFill>
          <a:ln/>
        </p:spPr>
      </p:sp>
      <p:sp>
        <p:nvSpPr>
          <p:cNvPr id="8" name="Shape 5"/>
          <p:cNvSpPr/>
          <p:nvPr/>
        </p:nvSpPr>
        <p:spPr>
          <a:xfrm>
            <a:off x="5291700" y="3322141"/>
            <a:ext cx="3090091" cy="993279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9" name="Text 6"/>
          <p:cNvSpPr/>
          <p:nvPr/>
        </p:nvSpPr>
        <p:spPr>
          <a:xfrm>
            <a:off x="5471579" y="3502025"/>
            <a:ext cx="2730332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Offline-First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71579" y="3865563"/>
            <a:ext cx="273033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everywhere, always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81790" y="3322141"/>
            <a:ext cx="3090091" cy="993279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2" name="Shape 9"/>
          <p:cNvSpPr/>
          <p:nvPr/>
        </p:nvSpPr>
        <p:spPr>
          <a:xfrm>
            <a:off x="8381790" y="3322141"/>
            <a:ext cx="25399" cy="993279"/>
          </a:xfrm>
          <a:prstGeom prst="roundRect">
            <a:avLst>
              <a:gd name="adj" fmla="val 106290"/>
            </a:avLst>
          </a:prstGeom>
          <a:solidFill>
            <a:srgbClr val="494A4B"/>
          </a:solidFill>
          <a:ln/>
        </p:spPr>
      </p:sp>
      <p:sp>
        <p:nvSpPr>
          <p:cNvPr id="13" name="Text 10"/>
          <p:cNvSpPr/>
          <p:nvPr/>
        </p:nvSpPr>
        <p:spPr>
          <a:xfrm>
            <a:off x="8561669" y="3502025"/>
            <a:ext cx="2730332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Zero-Knowledge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61669" y="3865563"/>
            <a:ext cx="2730332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Your data stays yours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291700" y="4315420"/>
            <a:ext cx="6180181" cy="993279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6" name="Shape 13"/>
          <p:cNvSpPr/>
          <p:nvPr/>
        </p:nvSpPr>
        <p:spPr>
          <a:xfrm>
            <a:off x="5291700" y="4315420"/>
            <a:ext cx="6180181" cy="25400"/>
          </a:xfrm>
          <a:prstGeom prst="roundRect">
            <a:avLst>
              <a:gd name="adj" fmla="val 106286"/>
            </a:avLst>
          </a:prstGeom>
          <a:solidFill>
            <a:srgbClr val="494A4B"/>
          </a:solidFill>
          <a:ln/>
        </p:spPr>
      </p:sp>
      <p:sp>
        <p:nvSpPr>
          <p:cNvPr id="17" name="Text 14"/>
          <p:cNvSpPr/>
          <p:nvPr/>
        </p:nvSpPr>
        <p:spPr>
          <a:xfrm>
            <a:off x="5471579" y="4495304"/>
            <a:ext cx="5820423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Peer-to-Peer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71579" y="4858841"/>
            <a:ext cx="5820423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middleman, ever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291700" y="5511105"/>
            <a:ext cx="25399" cy="674787"/>
          </a:xfrm>
          <a:prstGeom prst="roundRect">
            <a:avLst>
              <a:gd name="adj" fmla="val 60001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561568" y="5713512"/>
            <a:ext cx="6519898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Thank you. Questions are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2026-07-23T16:32:50Z</dcterms:created>
  <dcterms:modified xsi:type="dcterms:W3CDTF">2026-07-23T16:32:50Z</dcterms:modified>
</cp:coreProperties>
</file>