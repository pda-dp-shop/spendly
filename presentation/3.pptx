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ExtraLight"/>
      <p:regular r:id="rId201314"/>
    </p:embeddedFont>
    <p:embeddedFont>
      <p:font typeface="Poppins Thin"/>
      <p:regular r:id="rId201315"/>
    </p:embeddedFont>
    <p:embeddedFont>
      <p:font typeface="Poppins Light"/>
      <p:regular r:id="rId201316"/>
    </p:embeddedFont>
    <p:embeddedFont>
      <p:font typeface="Poppins SemiBold"/>
      <p:regular r:id="rId201317"/>
    </p:embeddedFont>
    <p:embeddedFont>
      <p:font typeface="Poppins Bold"/>
      <p:regular r:id="rId201318"/>
    </p:embeddedFont>
    <p:embeddedFont>
      <p:font typeface="Poppins ExtraBold"/>
      <p:regular r:id="rId201319"/>
    </p:embeddedFont>
    <p:embeddedFont>
      <p:font typeface="Poppins Black"/>
      <p:regular r:id="rId201320"/>
    </p:embeddedFont>
    <p:embeddedFont>
      <p:font typeface="Poppins"/>
      <p:regular r:id="rId201321"/>
    </p:embeddedFont>
    <p:embeddedFont>
      <p:font typeface="Poppins Medium"/>
      <p:regular r:id="rId201322"/>
    </p:embeddedFont>
    <p:embeddedFont>
      <p:font typeface="Roboto Light"/>
      <p:regular r:id="rId201323"/>
    </p:embeddedFont>
    <p:embeddedFont>
      <p:font typeface="Roboto"/>
      <p:regular r:id="rId201324"/>
    </p:embeddedFont>
    <p:embeddedFont>
      <p:font typeface="Roboto Thin"/>
      <p:regular r:id="rId201325"/>
    </p:embeddedFont>
    <p:embeddedFont>
      <p:font typeface="Roboto ExtraLight"/>
      <p:regular r:id="rId201326"/>
    </p:embeddedFont>
    <p:embeddedFont>
      <p:font typeface="Roboto Medium"/>
      <p:regular r:id="rId201327"/>
    </p:embeddedFont>
    <p:embeddedFont>
      <p:font typeface="Roboto SemiBold"/>
      <p:regular r:id="rId201328"/>
    </p:embeddedFont>
    <p:embeddedFont>
      <p:font typeface="Roboto Bold"/>
      <p:regular r:id="rId201329"/>
    </p:embeddedFont>
    <p:embeddedFont>
      <p:font typeface="Roboto ExtraBold"/>
      <p:regular r:id="rId201330"/>
    </p:embeddedFont>
    <p:embeddedFont>
      <p:font typeface="Roboto Black"/>
      <p:regular r:id="rId20133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Relationship Id="rId201334" Target="fonts/201334.fntdata" Type="http://schemas.openxmlformats.org/officeDocument/2006/relationships/font"/><Relationship Id="rId201335" Target="fonts/20133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73919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638697"/>
            <a:ext cx="6296860" cy="2852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4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 Zero-Knowledge Peer-to-Peer Finance Ecosystem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61475" y="4739481"/>
            <a:ext cx="6296860" cy="12445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 semester VII Information Technology major project redefining how financial data is stored, shared, and secured — entirely offline, entirely private, entirely yours.</a:t>
            </a:r>
            <a:endParaRPr lang="en-US" sz="13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[Student Name] · [Enrollment Number] · Semester VII · Information Technology · [College Name]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9687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8963" y="474067"/>
            <a:ext cx="4433479" cy="59115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454819"/>
            <a:ext cx="6296860" cy="864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The Problem with How Finance Works Today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661475" y="1493242"/>
            <a:ext cx="6296860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transaction you make leaves a trace — stored on servers you don't control, processed by systems you can't audit, and exposed to breaches you never see coming.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30016"/>
            <a:ext cx="6296860" cy="10068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5030" y="2187377"/>
            <a:ext cx="590594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Privacy at Risk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895030" y="2472928"/>
            <a:ext cx="5905948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Centralized databases store sensitive financial data in single points of failure, vulnerable to mass breaches and unauthorized access.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152676"/>
            <a:ext cx="6296860" cy="10068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95030" y="3310037"/>
            <a:ext cx="590594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Always-Online Dependency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895030" y="3595588"/>
            <a:ext cx="5905948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Modern finance collapses without internet connectivity — no payments, no records, no operations in low-connectivity environments.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275336"/>
            <a:ext cx="6296860" cy="100687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5030" y="4432697"/>
            <a:ext cx="590594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Recurring Infrastructure Costs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895030" y="4718248"/>
            <a:ext cx="5905948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Monthly POS subscriptions, cloud hosting fees, and server maintenance create unsustainable overhead for small merchants.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97996"/>
            <a:ext cx="6296860" cy="100687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95030" y="5555357"/>
            <a:ext cx="5905948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 Data Ownership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895030" y="5840909"/>
            <a:ext cx="5905948" cy="406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Users surrender complete control of their financial history to third-party platforms with opaque data policies.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4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79190"/>
            <a:ext cx="629686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Introducing Spendly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5233360" y="174396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Three applications. One unified ecosystem. Zero servers. Every component operates independently, communicates directly, and stores nothing in the cloud.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233360" y="2459236"/>
            <a:ext cx="3065783" cy="2024063"/>
          </a:xfrm>
          <a:prstGeom prst="roundRect">
            <a:avLst>
              <a:gd name="adj" fmla="val 343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05005" y="2630884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05005" y="2988568"/>
            <a:ext cx="272249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consumer wallet. Track expenses, claim offers, scan barcodes, and manage your complete financial life — offline-first, encrypted at rest.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64437" y="2459236"/>
            <a:ext cx="3065783" cy="2024063"/>
          </a:xfrm>
          <a:prstGeom prst="roundRect">
            <a:avLst>
              <a:gd name="adj" fmla="val 343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36082" y="2630884"/>
            <a:ext cx="272249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Shop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36082" y="2988568"/>
            <a:ext cx="272249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merchant terminal. Accept payments, generate invoices, manage inventory, and issue QR receipts without any monthly subscription or internet connection.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33360" y="4648597"/>
            <a:ext cx="6296860" cy="1230213"/>
          </a:xfrm>
          <a:prstGeom prst="roundRect">
            <a:avLst>
              <a:gd name="adj" fmla="val 5647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05005" y="4820245"/>
            <a:ext cx="59535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 Radar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5405005" y="5177929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 discovery layer. Broadcast localized offers and promotions peer-to-peer to nearby users — no central server, no tracking, no intermediaries.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7872" y="471785"/>
            <a:ext cx="4435662" cy="5914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6313"/>
            <a:ext cx="6296860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System Architecture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61475" y="1100138"/>
            <a:ext cx="629686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Spendly's architecture is built like a precision instrument — each layer has a singular purpose, and every component communicates through well-defined, secure interfaces.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661475" y="1623516"/>
            <a:ext cx="27234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61475" y="1835845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8" name="Text 5"/>
          <p:cNvSpPr/>
          <p:nvPr/>
        </p:nvSpPr>
        <p:spPr>
          <a:xfrm>
            <a:off x="661475" y="1942009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1475" y="2222103"/>
            <a:ext cx="629686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PWA with IndexedDB via Dexie.js — fully offline-capable UI with persistent local storage and instant load times.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61475" y="2833588"/>
            <a:ext cx="27234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61475" y="3045916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2" name="Text 9"/>
          <p:cNvSpPr/>
          <p:nvPr/>
        </p:nvSpPr>
        <p:spPr>
          <a:xfrm>
            <a:off x="661475" y="3152080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Networking Layer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61475" y="3432175"/>
            <a:ext cx="629686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and PeerJS enable direct device-to-device communication. Cloudflare Workers with KV provide optional edge relay for discovery.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1475" y="4043660"/>
            <a:ext cx="27234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1475" y="4255988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75" y="4362152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Layer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1475" y="4642247"/>
            <a:ext cx="629686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for passwordless authentication. AES-256-GCM encryption for all stored data. Secure Enclave integration for biometric unlock.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1475" y="5253732"/>
            <a:ext cx="272349" cy="17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61475" y="5466060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20" name="Text 17"/>
          <p:cNvSpPr/>
          <p:nvPr/>
        </p:nvSpPr>
        <p:spPr>
          <a:xfrm>
            <a:off x="661475" y="5572224"/>
            <a:ext cx="629686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Deployment Layer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61475" y="5852319"/>
            <a:ext cx="6296860" cy="397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Cloudflare Workers serverless edge functions. Zero persistent infrastructure. Sub-millisecond global response times when online.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80" y="485676"/>
            <a:ext cx="4414826" cy="58866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463451"/>
            <a:ext cx="6296860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How a Transaction Flows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178223"/>
            <a:ext cx="62968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From discovery to settlement, every step happens locally and peer-to-peer. No round-trips to a server. No waiting. No exposure.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1836440"/>
            <a:ext cx="785594" cy="11395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68176" y="1993503"/>
            <a:ext cx="53620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68176" y="2328565"/>
            <a:ext cx="53620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User discovers a local offer via Spendly Radar's peer-to-peer broadcast in proximity.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360" y="2975967"/>
            <a:ext cx="785594" cy="11395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68176" y="3133030"/>
            <a:ext cx="53620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Claim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168176" y="3468092"/>
            <a:ext cx="53620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Coupon claimed and stored in encrypted IndexedDB. Barcode generated for in-store redemption.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4115495"/>
            <a:ext cx="785594" cy="113952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68176" y="4272558"/>
            <a:ext cx="53620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168176" y="4607620"/>
            <a:ext cx="53620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Merchant scans barcode. Spendly Shop validates offer locally — no server call required.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5255022"/>
            <a:ext cx="785594" cy="113952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68176" y="5412085"/>
            <a:ext cx="536204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Invoice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168176" y="5747147"/>
            <a:ext cx="5362044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Invoice generated, shared peer-to-peer, and archived. Expense recorded. Analytics updated instantly.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81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Technology Stack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045593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technology choice was deliberate. Each tool was selected for its ability to operate without a server, protect data without compromise, and scale without infrastructure.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760861"/>
            <a:ext cx="10868745" cy="2898973"/>
          </a:xfrm>
          <a:prstGeom prst="roundRect">
            <a:avLst>
              <a:gd name="adj" fmla="val 2396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1475" y="3246140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61475" y="3728244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4210348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4692452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5174555"/>
            <a:ext cx="10868745" cy="1033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33218" y="2872780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Layer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04368" y="2872780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Technology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46766" y="2872780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Purpose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3218" y="3354884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04368" y="3354884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React + PWA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46766" y="3354884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Installable, offline-first user interface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3218" y="3836988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Database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04368" y="3836988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IndexedDB + Dexie.js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46766" y="3836988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Encrypted local persistence on device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3218" y="4319091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Networking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004368" y="4319091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WebRTC + PeerJS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46766" y="4319091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Direct peer-to-peer device communication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3218" y="4801195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Edge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004368" y="4801195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Cloudflare Workers + KV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46766" y="4801195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Serverless relay and ephemeral state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3218" y="5283299"/>
            <a:ext cx="245014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04368" y="5283299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WebAuthn + AES-256-GCM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346766" y="5283299"/>
            <a:ext cx="462139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Biometric auth and military-grade encryption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45" y="474663"/>
            <a:ext cx="4431395" cy="59086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612477"/>
            <a:ext cx="6296860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Security by Design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30908"/>
            <a:ext cx="6296860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doesn't add security as a feature — security is the foundation. Every architectural decision begins with the question: </a:t>
            </a:r>
            <a:pPr algn="l" indent="0" marL="0">
              <a:lnSpc>
                <a:spcPct val="123000"/>
              </a:lnSpc>
              <a:buNone/>
            </a:pPr>
            <a:r>
              <a:rPr lang="en-US" sz="1100" i="1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how do we protect this without a server?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1781373"/>
            <a:ext cx="6296860" cy="10264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9098" y="1940917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 Architecture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469098" y="2232124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financial data ever leaves the device in plaintext. The server knows nothing about your transactions, balance, or identity.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927251"/>
            <a:ext cx="6296860" cy="10264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9098" y="3086795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WebAuthn Biometric Unlock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469098" y="3378002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Passwordless authentication via fingerprint or face recognition. Credentials stored in the device's Secure Enclave — never on a server.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073128"/>
            <a:ext cx="6296860" cy="10264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69098" y="4232672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AES-256-GCM Encryption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469098" y="4523879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All data at rest is encrypted using authenticated encryption. Tamper detection built in. Keys derived from biometric hardware bindings.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219005"/>
            <a:ext cx="6296860" cy="10264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69098" y="5378549"/>
            <a:ext cx="5901582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 Data Model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5469098" y="5669756"/>
            <a:ext cx="5901582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IndexedDB stores all records locally. Sync is optional and peer-to-peer. The application is fully functional without any network connection.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895" y="467816"/>
            <a:ext cx="4441615" cy="5922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07702"/>
            <a:ext cx="6296860" cy="4069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Core Features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61475" y="1068487"/>
            <a:ext cx="6296860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Every feature was designed to replace an existing tool — wallet, POS terminal, expense tracker, loyalty card, and analytics dashboard — in a single, private, offline-capable application.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56345"/>
            <a:ext cx="325529" cy="325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1475" y="2010073"/>
            <a:ext cx="629686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Expense &amp; Wallet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661475" y="2275086"/>
            <a:ext cx="6296860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Real-time expense tracking with a built-in cash wallet. Categorize, filter, and analyze spending — all stored locally.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852638"/>
            <a:ext cx="325529" cy="325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3306366"/>
            <a:ext cx="629686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Merchant Billing &amp; QR Invoice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661475" y="3571379"/>
            <a:ext cx="6296860" cy="18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Generate and share itemized invoices via QR code. No printer required. No paper. No server.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3962698"/>
            <a:ext cx="325529" cy="32553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61475" y="4416425"/>
            <a:ext cx="629686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Inventory &amp; EMI Alerts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661475" y="4681438"/>
            <a:ext cx="6296860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Track stock levels in Spendly Shop. Set automated EMI and payment reminders for customers and merchants alike.</a:t>
            </a:r>
            <a:endParaRPr lang="en-US" sz="10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258991"/>
            <a:ext cx="325529" cy="32553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61475" y="5712718"/>
            <a:ext cx="6296860" cy="203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 Sync &amp; Analytics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661475" y="5977731"/>
            <a:ext cx="6296860" cy="372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0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Full functionality without internet. When connectivity returns, peer-to-peer sync resolves conflicts silently and securely.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2457" y="491232"/>
            <a:ext cx="4406492" cy="58755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36079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Advantages &amp; What Comes Next</a:t>
            </a:r>
            <a:endParaRPr lang="en-US" sz="3250" dirty="0"/>
          </a:p>
        </p:txBody>
      </p:sp>
      <p:sp>
        <p:nvSpPr>
          <p:cNvPr id="5" name="Text 2"/>
          <p:cNvSpPr/>
          <p:nvPr/>
        </p:nvSpPr>
        <p:spPr>
          <a:xfrm>
            <a:off x="661475" y="1817588"/>
            <a:ext cx="629686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eliminates the cost, latency, and risk of traditional finance infrastructure — and the roadmap extends that vision further.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2415" y="2532856"/>
            <a:ext cx="3184842" cy="3789065"/>
          </a:xfrm>
          <a:prstGeom prst="roundRect">
            <a:avLst>
              <a:gd name="adj" fmla="val 3739"/>
            </a:avLst>
          </a:prstGeom>
          <a:solidFill>
            <a:srgbClr val="111111"/>
          </a:solidFill>
          <a:ln/>
        </p:spPr>
      </p:sp>
      <p:sp>
        <p:nvSpPr>
          <p:cNvPr id="7" name="Text 4"/>
          <p:cNvSpPr/>
          <p:nvPr/>
        </p:nvSpPr>
        <p:spPr>
          <a:xfrm>
            <a:off x="707710" y="2698155"/>
            <a:ext cx="28542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Current Advantages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07710" y="3121918"/>
            <a:ext cx="2854254" cy="314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Offline First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Fully operational without internet connectivity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Zero Server Cost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No hosting, no subscriptions, no infrastructure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Complete Privacy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Zero-knowledge architecture, no data leakage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Fast Billing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Instant peer-to-peer invoice generation and sharing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P2P Communication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Direct device-to-device, no intermediaries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017961" y="2698155"/>
            <a:ext cx="294672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017961" y="3121918"/>
            <a:ext cx="2946723" cy="2877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 Insights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On-device spending pattern analysis and predictions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Voice Billing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Hands-free merchant transactions via voice commands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UPI &amp; NFC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Native integration with India's payment infrastructure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GST Compliance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Automated tax invoice generation for merchants</a:t>
            </a:r>
            <a:endParaRPr lang="en-US" sz="1300" dirty="0"/>
          </a:p>
          <a:p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Multi-Store</a:t>
            </a:r>
            <a:pPr algn="l" marL="264160" indent="-264160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Unified dashboard for merchant chains and franchises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D3D4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4222" y="480219"/>
            <a:ext cx="4423061" cy="58975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6383"/>
            <a:ext cx="6296860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Spendly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61475" y="1252438"/>
            <a:ext cx="6296860" cy="19258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0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Finance. Rebuilt for privacy. Built for offline. Built for you.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661475" y="3379192"/>
            <a:ext cx="6296860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Spendly is not an incremental improvement on existing finance apps. It is a fundamental rethinking of what financial infrastructure should look like when privacy is the default, offline is the norm, and the user owns their data completely.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208562"/>
            <a:ext cx="6296860" cy="1686123"/>
          </a:xfrm>
          <a:prstGeom prst="roundRect">
            <a:avLst>
              <a:gd name="adj" fmla="val 3708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4214912"/>
            <a:ext cx="3142080" cy="836712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9" name="Text 6"/>
          <p:cNvSpPr/>
          <p:nvPr/>
        </p:nvSpPr>
        <p:spPr>
          <a:xfrm>
            <a:off x="816649" y="4363740"/>
            <a:ext cx="28444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Offline-First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6649" y="4676577"/>
            <a:ext cx="284443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Works everywhere, always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809905" y="4214912"/>
            <a:ext cx="3142080" cy="836712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2" name="Shape 9"/>
          <p:cNvSpPr/>
          <p:nvPr/>
        </p:nvSpPr>
        <p:spPr>
          <a:xfrm>
            <a:off x="3809905" y="4214912"/>
            <a:ext cx="19050" cy="836712"/>
          </a:xfrm>
          <a:prstGeom prst="roundRect">
            <a:avLst>
              <a:gd name="adj" fmla="val 328178"/>
            </a:avLst>
          </a:prstGeom>
          <a:solidFill>
            <a:srgbClr val="56565B"/>
          </a:solidFill>
          <a:ln/>
        </p:spPr>
      </p:sp>
      <p:sp>
        <p:nvSpPr>
          <p:cNvPr id="13" name="Text 10"/>
          <p:cNvSpPr/>
          <p:nvPr/>
        </p:nvSpPr>
        <p:spPr>
          <a:xfrm>
            <a:off x="3958729" y="4363740"/>
            <a:ext cx="284443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Zero-Knowledge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958729" y="4676577"/>
            <a:ext cx="284443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one sees your data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67825" y="5051623"/>
            <a:ext cx="6284160" cy="836712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6" name="Shape 13"/>
          <p:cNvSpPr/>
          <p:nvPr/>
        </p:nvSpPr>
        <p:spPr>
          <a:xfrm>
            <a:off x="667825" y="5051623"/>
            <a:ext cx="6284160" cy="19050"/>
          </a:xfrm>
          <a:prstGeom prst="roundRect">
            <a:avLst>
              <a:gd name="adj" fmla="val 328178"/>
            </a:avLst>
          </a:prstGeom>
          <a:solidFill>
            <a:srgbClr val="56565B"/>
          </a:solidFill>
          <a:ln/>
        </p:spPr>
      </p:sp>
      <p:sp>
        <p:nvSpPr>
          <p:cNvPr id="17" name="Text 14"/>
          <p:cNvSpPr/>
          <p:nvPr/>
        </p:nvSpPr>
        <p:spPr>
          <a:xfrm>
            <a:off x="816649" y="5200452"/>
            <a:ext cx="5986511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Peer-to-Peer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16649" y="5513288"/>
            <a:ext cx="5986511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 servers, no middlemen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61475" y="6045398"/>
            <a:ext cx="6906444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1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Thank you.</a:t>
            </a:r>
            <a:pPr algn="l" indent="0" marL="0">
              <a:lnSpc>
                <a:spcPct val="1270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Questions are welcome.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2026-07-23T15:53:18Z</dcterms:created>
  <dcterms:modified xsi:type="dcterms:W3CDTF">2026-07-23T15:53:18Z</dcterms:modified>
</cp:coreProperties>
</file>