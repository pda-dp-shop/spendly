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oppins ExtraLight"/>
      <p:regular r:id="rId201314"/>
    </p:embeddedFont>
    <p:embeddedFont>
      <p:font typeface="Poppins Thin"/>
      <p:regular r:id="rId201315"/>
    </p:embeddedFont>
    <p:embeddedFont>
      <p:font typeface="Poppins Light"/>
      <p:regular r:id="rId201316"/>
    </p:embeddedFont>
    <p:embeddedFont>
      <p:font typeface="Poppins SemiBold"/>
      <p:regular r:id="rId201317"/>
    </p:embeddedFont>
    <p:embeddedFont>
      <p:font typeface="Poppins Bold"/>
      <p:regular r:id="rId201318"/>
    </p:embeddedFont>
    <p:embeddedFont>
      <p:font typeface="Poppins ExtraBold"/>
      <p:regular r:id="rId201319"/>
    </p:embeddedFont>
    <p:embeddedFont>
      <p:font typeface="Poppins Black"/>
      <p:regular r:id="rId201320"/>
    </p:embeddedFont>
    <p:embeddedFont>
      <p:font typeface="Poppins"/>
      <p:regular r:id="rId201321"/>
    </p:embeddedFont>
    <p:embeddedFont>
      <p:font typeface="Poppins Medium"/>
      <p:regular r:id="rId201322"/>
    </p:embeddedFont>
    <p:embeddedFont>
      <p:font typeface="Roboto Light"/>
      <p:regular r:id="rId201323"/>
    </p:embeddedFont>
    <p:embeddedFont>
      <p:font typeface="Roboto"/>
      <p:regular r:id="rId201324"/>
    </p:embeddedFont>
    <p:embeddedFont>
      <p:font typeface="Roboto Thin"/>
      <p:regular r:id="rId201325"/>
    </p:embeddedFont>
    <p:embeddedFont>
      <p:font typeface="Roboto ExtraLight"/>
      <p:regular r:id="rId201326"/>
    </p:embeddedFont>
    <p:embeddedFont>
      <p:font typeface="Roboto Medium"/>
      <p:regular r:id="rId201327"/>
    </p:embeddedFont>
    <p:embeddedFont>
      <p:font typeface="Roboto SemiBold"/>
      <p:regular r:id="rId201328"/>
    </p:embeddedFont>
    <p:embeddedFont>
      <p:font typeface="Roboto Bold"/>
      <p:regular r:id="rId201329"/>
    </p:embeddedFont>
    <p:embeddedFont>
      <p:font typeface="Roboto ExtraBold"/>
      <p:regular r:id="rId201330"/>
    </p:embeddedFont>
    <p:embeddedFont>
      <p:font typeface="Roboto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image" Target="../media/image-9-1.png"/><Relationship Id="rId12" Type="http://schemas.openxmlformats.org/officeDocument/2006/relationships/image" Target="../media/image-9-2.svg"/><Relationship Id="rId13" Type="http://schemas.openxmlformats.org/officeDocument/2006/relationships/image" Target="../media/image-9-1.png"/><Relationship Id="rId14" Type="http://schemas.openxmlformats.org/officeDocument/2006/relationships/image" Target="../media/image-9-2.svg"/><Relationship Id="rId15" Type="http://schemas.openxmlformats.org/officeDocument/2006/relationships/image" Target="../media/image-9-1.png"/><Relationship Id="rId16" Type="http://schemas.openxmlformats.org/officeDocument/2006/relationships/image" Target="../media/image-9-2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85565"/>
            <a:ext cx="442752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SEMESTER VII · INFORMATION TECHNOLOGY · MAJOR PROJECT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61475" y="1453455"/>
            <a:ext cx="6296860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61475" y="2414687"/>
            <a:ext cx="6296860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Offline-First Zero-Knowledge Peer-to-Peer Finance Ecosystem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661475" y="4212927"/>
            <a:ext cx="6296860" cy="1509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privacy-preserving, serverless financial infrastructure — operating entirely offline, secured through zero-knowledge cryptography, and built for the next generation of commerce.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Student Name · Enrollment Number · Semester VII · Information Technology · College Name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08496"/>
            <a:ext cx="6296860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Problem with Modern Finance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61475" y="1126927"/>
            <a:ext cx="6296860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Every digital transaction today creates a vulnerability — a traceable record stored on someone else's server, exposed to breaches, surveillance, and dependency. The current architecture is fundamentally broken.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85454"/>
            <a:ext cx="6296860" cy="10264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7213" y="2044998"/>
            <a:ext cx="590158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Privacy at Risk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897213" y="2336205"/>
            <a:ext cx="5901582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Centralized databases are prime targets. Every transaction leaks behavioral, financial, and personal data to third parties.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031331"/>
            <a:ext cx="6296860" cy="102641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7213" y="3190875"/>
            <a:ext cx="590158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Internet Dependency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897213" y="3482082"/>
            <a:ext cx="5901582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POS systems, billing apps, and wallets fail without connectivity — crippling commerce in low-bandwidth or remote environments.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177209"/>
            <a:ext cx="6296860" cy="102641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7213" y="4336752"/>
            <a:ext cx="590158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Monthly POS Costs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897213" y="4627959"/>
            <a:ext cx="5901582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Merchants pay recurring subscription fees for hardware and software that could operate independently at zero cost.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323086"/>
            <a:ext cx="6296860" cy="102641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97213" y="5482630"/>
            <a:ext cx="590158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Breach Exposure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897213" y="5773837"/>
            <a:ext cx="5901582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single centralized breach compromises millions of users simultaneously. There is no containment, no recovery.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79190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Introducing Spendly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743968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Three interconnected applications forming a complete, privacy-first financial ecosystem — no servers, no subscriptions, no compromise.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2459236"/>
            <a:ext cx="3065783" cy="2024063"/>
          </a:xfrm>
          <a:prstGeom prst="roundRect">
            <a:avLst>
              <a:gd name="adj" fmla="val 3432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5005" y="2630884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05005" y="2988568"/>
            <a:ext cx="2722494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consumer-facing app. Track expenses, claim offers, scan barcodes, and manage personal finance — entirely offline, entirely private.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64437" y="2459236"/>
            <a:ext cx="3065783" cy="2024063"/>
          </a:xfrm>
          <a:prstGeom prst="roundRect">
            <a:avLst>
              <a:gd name="adj" fmla="val 3432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36082" y="2630884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 Shop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36082" y="2988568"/>
            <a:ext cx="272249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merchant POS application. Generate invoices, manage inventory, accept payments, and sync peer-to-peer — zero monthly fees.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33360" y="4648597"/>
            <a:ext cx="6296860" cy="1230213"/>
          </a:xfrm>
          <a:prstGeom prst="roundRect">
            <a:avLst>
              <a:gd name="adj" fmla="val 564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05005" y="4820245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 Radar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05005" y="5177929"/>
            <a:ext cx="59535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discovery layer. Broadcast localized offers and coupons via WebRTC mesh — reaching nearby users without internet or central servers.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08496"/>
            <a:ext cx="6296860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System Architecture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3360" y="1126927"/>
            <a:ext cx="6296860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Spendly's architecture is a deliberate departure from cloud-native design. Every layer is chosen to enable offline operation, peer-to-peer communication, and cryptographic security — without a single centralized server in the critical path.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885454"/>
            <a:ext cx="6296860" cy="10264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24947" y="2266851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934125" y="2044998"/>
            <a:ext cx="543655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Frontend Layer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934125" y="2336205"/>
            <a:ext cx="543655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React + PWA — a fully installable, offline-capable progressive web app with responsive UI and IndexedDB local storage via Dexie.js.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031331"/>
            <a:ext cx="6296860" cy="10264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24947" y="3412728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5934125" y="3190875"/>
            <a:ext cx="543655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Networking Layer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5934125" y="3482082"/>
            <a:ext cx="543655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WebRTC + PeerJS — direct browser-to-browser encrypted channels for real-time peer-to-peer data exchange without intermediaries.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177209"/>
            <a:ext cx="6296860" cy="10264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24947" y="4558605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5934125" y="4336752"/>
            <a:ext cx="543655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Edge Layer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934125" y="4627959"/>
            <a:ext cx="543655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Cloudflare Workers + KV — optional lightweight edge functions for non-sensitive metadata, never for financial data or user state.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323086"/>
            <a:ext cx="6296860" cy="102641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424947" y="5704483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5934125" y="5482630"/>
            <a:ext cx="543655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Security Layer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5934125" y="5773837"/>
            <a:ext cx="543655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WebAuthn + AES-256-GCM — hardware-backed biometric authentication and authenticated encryption for all stored and transmitted data.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3060"/>
            <a:ext cx="10868745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Spendly Works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61475" y="1230511"/>
            <a:ext cx="11478330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From discovery to settlement — every step is local, encrypted, and peer-to-peer. No round-trips to a server. No latency. No exposure.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97521"/>
            <a:ext cx="29298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1475" y="1827510"/>
            <a:ext cx="5369485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938834"/>
            <a:ext cx="536948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Offer Discovery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1475" y="2245618"/>
            <a:ext cx="5369485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Spendly Radar broadcasts localized coupons via WebRTC mesh to nearby devices.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60735" y="1597521"/>
            <a:ext cx="29298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60735" y="1827510"/>
            <a:ext cx="5369485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0" name="Text 8"/>
          <p:cNvSpPr/>
          <p:nvPr/>
        </p:nvSpPr>
        <p:spPr>
          <a:xfrm>
            <a:off x="6160735" y="1938834"/>
            <a:ext cx="536948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Coupon Claim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60735" y="2245618"/>
            <a:ext cx="5369485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 claims offer — stored locally in IndexedDB, validated offline.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1475" y="2706291"/>
            <a:ext cx="29298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1475" y="2936280"/>
            <a:ext cx="5369485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3047603"/>
            <a:ext cx="536948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Barcode Scan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1475" y="3354388"/>
            <a:ext cx="5369485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Product identified via on-device scan — no external API call required.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60735" y="2706291"/>
            <a:ext cx="29298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60735" y="2936280"/>
            <a:ext cx="5369485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8" name="Text 16"/>
          <p:cNvSpPr/>
          <p:nvPr/>
        </p:nvSpPr>
        <p:spPr>
          <a:xfrm>
            <a:off x="6160735" y="3047603"/>
            <a:ext cx="536948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Product Lookup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60735" y="3354388"/>
            <a:ext cx="5369485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Inventory matched from local cache synchronized peer-to-peer with Spendly Shop.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1475" y="3815060"/>
            <a:ext cx="29298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05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1475" y="4045049"/>
            <a:ext cx="5369485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4156373"/>
            <a:ext cx="536948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Offer Validation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1475" y="4463157"/>
            <a:ext cx="5369485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Coupon applied and validated through encrypted local logic — zero server contact.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60735" y="3815060"/>
            <a:ext cx="29298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06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60735" y="4045049"/>
            <a:ext cx="5369485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26" name="Text 24"/>
          <p:cNvSpPr/>
          <p:nvPr/>
        </p:nvSpPr>
        <p:spPr>
          <a:xfrm>
            <a:off x="6160735" y="4156373"/>
            <a:ext cx="536948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Invoice Generation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60735" y="4463157"/>
            <a:ext cx="5369485" cy="44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Spendly Shop generates signed invoice, transmitted directly to user's device via WebRTC.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1475" y="5144889"/>
            <a:ext cx="29298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07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1475" y="5374878"/>
            <a:ext cx="5369485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30" name="Text 28"/>
          <p:cNvSpPr/>
          <p:nvPr/>
        </p:nvSpPr>
        <p:spPr>
          <a:xfrm>
            <a:off x="661475" y="5486202"/>
            <a:ext cx="536948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Invoice Sharing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1475" y="5792986"/>
            <a:ext cx="5369485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Encrypted invoice shared peer-to-peer — user stores locally, merchant retains copy.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60735" y="5144889"/>
            <a:ext cx="29298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08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60735" y="5374878"/>
            <a:ext cx="5369485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34" name="Text 32"/>
          <p:cNvSpPr/>
          <p:nvPr/>
        </p:nvSpPr>
        <p:spPr>
          <a:xfrm>
            <a:off x="6160735" y="5486202"/>
            <a:ext cx="536948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Expense Saving &amp; Analytics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60735" y="5792986"/>
            <a:ext cx="5369485" cy="44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Spending categorized and analyzed entirely on-device — insights never leave the user's hardware.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04341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61475" y="1176536"/>
            <a:ext cx="62968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Every technology in Spendly is selected for a single reason: enabling a fully functional, secure, and private financial system without a traditional backend.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76598"/>
            <a:ext cx="6296860" cy="10172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8978" y="1827907"/>
            <a:ext cx="59180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88978" y="2098080"/>
            <a:ext cx="591805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50"/>
              </a:spcAft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React · PWA · Dexie.js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Responsive, installable, and fully offline-capable user interface with structured local data management.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799655"/>
            <a:ext cx="6296860" cy="101729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8978" y="2950964"/>
            <a:ext cx="59180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888978" y="3221137"/>
            <a:ext cx="591805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50"/>
              </a:spcAft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WebRTC · PeerJS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Direct encrypted peer-to-peer channels — no relay servers, no intermediaries, no latency.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922713"/>
            <a:ext cx="6296860" cy="101729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88978" y="4074021"/>
            <a:ext cx="59180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888978" y="4344194"/>
            <a:ext cx="591805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50"/>
              </a:spcAft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IndexedDB · Cloudflare KV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Browser-native structured storage for all financial data; KV for optional non-sensitive edge metadata.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045770"/>
            <a:ext cx="6296860" cy="120779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88978" y="5197078"/>
            <a:ext cx="59180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888978" y="5467251"/>
            <a:ext cx="591805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50"/>
              </a:spcAft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WebAuthn · AES-256-GCM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Hardware-backed biometric authentication and authenticated encryption for all stored and transmitted data.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02146"/>
            <a:ext cx="6296860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Security by Design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61475" y="1029295"/>
            <a:ext cx="6296860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Spendly does not trust servers. It does not trust networks. It trusts only the user's device and cryptographic proof. Every architectural decision begins and ends with security.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661475" y="1481137"/>
            <a:ext cx="6296860" cy="1148953"/>
          </a:xfrm>
          <a:prstGeom prst="roundRect">
            <a:avLst>
              <a:gd name="adj" fmla="val 453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1845" y="1611511"/>
            <a:ext cx="372061" cy="372070"/>
          </a:xfrm>
          <a:prstGeom prst="ellipse">
            <a:avLst/>
          </a:prstGeom>
          <a:solidFill>
            <a:srgbClr val="F2F2F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4137" y="1713805"/>
            <a:ext cx="167378" cy="1673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1845" y="2076549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Zero-Knowledge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91845" y="2326084"/>
            <a:ext cx="603611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 financial data ever leaves the device. The server knows nothing — by design, not by policy.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61475" y="2723059"/>
            <a:ext cx="6296860" cy="1148953"/>
          </a:xfrm>
          <a:prstGeom prst="roundRect">
            <a:avLst>
              <a:gd name="adj" fmla="val 453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91845" y="2853432"/>
            <a:ext cx="372061" cy="372070"/>
          </a:xfrm>
          <a:prstGeom prst="ellipse">
            <a:avLst/>
          </a:prstGeom>
          <a:solidFill>
            <a:srgbClr val="F2F2F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137" y="2955727"/>
            <a:ext cx="167378" cy="1673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1845" y="3318470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Offline-First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91845" y="3568005"/>
            <a:ext cx="603611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All core operations — billing, inventory, authentication — function without any internet connection.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61475" y="3964980"/>
            <a:ext cx="6296860" cy="1148953"/>
          </a:xfrm>
          <a:prstGeom prst="roundRect">
            <a:avLst>
              <a:gd name="adj" fmla="val 453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91845" y="4095353"/>
            <a:ext cx="372061" cy="372070"/>
          </a:xfrm>
          <a:prstGeom prst="ellipse">
            <a:avLst/>
          </a:prstGeom>
          <a:solidFill>
            <a:srgbClr val="F2F2F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4137" y="4197648"/>
            <a:ext cx="167378" cy="16738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91845" y="4560391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WebAuthn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791845" y="4809927"/>
            <a:ext cx="603611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Hardware-backed biometric authentication replaces passwords entirely. No credentials to steal.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61475" y="5206901"/>
            <a:ext cx="6296860" cy="1148953"/>
          </a:xfrm>
          <a:prstGeom prst="roundRect">
            <a:avLst>
              <a:gd name="adj" fmla="val 453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91845" y="5337274"/>
            <a:ext cx="372061" cy="372070"/>
          </a:xfrm>
          <a:prstGeom prst="ellipse">
            <a:avLst/>
          </a:prstGeom>
          <a:solidFill>
            <a:srgbClr val="F2F2F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4137" y="5439569"/>
            <a:ext cx="167378" cy="16738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91845" y="5802313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AES-256-GCM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791845" y="6051848"/>
            <a:ext cx="603611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All data at rest and in transit is encrypted with authenticated encryption — tamper-evident by default.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90438"/>
            <a:ext cx="6296860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Features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61475" y="1239441"/>
            <a:ext cx="6296860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Spendly is a complete financial operating layer — not a single-feature app. Every capability is designed to work independently, offline, and without compromise.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36651"/>
            <a:ext cx="406985" cy="40699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68778" y="1936651"/>
            <a:ext cx="568955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Expense Tracking &amp; Analytics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268778" y="2287091"/>
            <a:ext cx="568955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Real-time categorization, spending trends, and savings insights — computed entirely on-device with zero data exposure.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24498"/>
            <a:ext cx="406985" cy="40699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68778" y="3124498"/>
            <a:ext cx="568955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Merchant Billing &amp; QR Invoice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268778" y="3474938"/>
            <a:ext cx="568955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Generate, sign, and share encrypted invoices peer-to-peer. QR-based checkout eliminates hardware dependency.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312345"/>
            <a:ext cx="406985" cy="40699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68778" y="4312345"/>
            <a:ext cx="568955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Inventory &amp; Cash Wallet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268778" y="4662785"/>
            <a:ext cx="568955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Local inventory management with offline stock sync. Digital cash wallet operates without banking infrastructure.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500191"/>
            <a:ext cx="406985" cy="40699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68778" y="5500191"/>
            <a:ext cx="568955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EMI Alerts &amp; Offline Sync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268778" y="5850632"/>
            <a:ext cx="568955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Automated installment reminders and conflict-free peer-to-peer synchronization when connectivity is restored.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670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Advantages &amp; Future Scope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9413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Spendly is not merely a project — it is a foundation. The current release delivers a production-grade offline-first finance layer. The roadmap extends it into an intelligent, voice-driven, interoperable commerce platform.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271415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Current Advantages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485" y="2786063"/>
            <a:ext cx="248041" cy="2480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8830" y="2777927"/>
            <a:ext cx="47936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Offline-First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Full functionality without internet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1142" y="2786063"/>
            <a:ext cx="248041" cy="2480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36487" y="2777927"/>
            <a:ext cx="479373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Zero Server Cost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No infrastructure expenses for merchants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485" y="3621088"/>
            <a:ext cx="248041" cy="248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98830" y="3612952"/>
            <a:ext cx="47936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Privacy by Architecture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Data never leaves the device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61142" y="3621088"/>
            <a:ext cx="248041" cy="24804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736487" y="3612952"/>
            <a:ext cx="479373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Fast P2P Billing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Instant peer-to-peer invoice exchange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661475" y="4365327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Future Scope</a:t>
            </a:r>
            <a:endParaRPr lang="en-US" sz="16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3485" y="4879975"/>
            <a:ext cx="248041" cy="24804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98830" y="4871839"/>
            <a:ext cx="47936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 Insights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Predictive spending intelligence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61142" y="4879975"/>
            <a:ext cx="248041" cy="248047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736487" y="4871839"/>
            <a:ext cx="479373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Voice Billing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Hands-free merchant interaction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3485" y="5715000"/>
            <a:ext cx="248041" cy="248047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198830" y="5706864"/>
            <a:ext cx="47936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UPI &amp; NFC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Native payment rail integration</a:t>
            </a:r>
            <a:endParaRPr lang="en-US" sz="13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61142" y="5715000"/>
            <a:ext cx="248041" cy="248047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736487" y="5706864"/>
            <a:ext cx="479373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GST &amp; Multi-Store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Compliance-ready merchant tools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10778"/>
            <a:ext cx="6296860" cy="702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61475" y="1453158"/>
            <a:ext cx="6296860" cy="1017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Future of Private Commerce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61475" y="2710855"/>
            <a:ext cx="6296860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Spendly redefines what a financial system can be — one that belongs entirely to its users, operates without dependency, and trusts nothing but cryptographic proof. This is not an incremental improvement. This is a new architecture for commerce.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3666530"/>
            <a:ext cx="6296860" cy="1881386"/>
          </a:xfrm>
          <a:prstGeom prst="roundRect">
            <a:avLst>
              <a:gd name="adj" fmla="val 363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3672880"/>
            <a:ext cx="3142080" cy="934343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8" name="Text 5"/>
          <p:cNvSpPr/>
          <p:nvPr/>
        </p:nvSpPr>
        <p:spPr>
          <a:xfrm>
            <a:off x="830539" y="3835598"/>
            <a:ext cx="2816651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Offline-First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0539" y="4186039"/>
            <a:ext cx="281665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Always available. Always private.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809905" y="3672880"/>
            <a:ext cx="3142080" cy="934343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11" name="Shape 8"/>
          <p:cNvSpPr/>
          <p:nvPr/>
        </p:nvSpPr>
        <p:spPr>
          <a:xfrm>
            <a:off x="3809905" y="3672880"/>
            <a:ext cx="19050" cy="934343"/>
          </a:xfrm>
          <a:prstGeom prst="roundRect">
            <a:avLst>
              <a:gd name="adj" fmla="val 358945"/>
            </a:avLst>
          </a:prstGeom>
          <a:solidFill>
            <a:srgbClr val="56565B"/>
          </a:solidFill>
          <a:ln/>
        </p:spPr>
      </p:sp>
      <p:sp>
        <p:nvSpPr>
          <p:cNvPr id="12" name="Text 9"/>
          <p:cNvSpPr/>
          <p:nvPr/>
        </p:nvSpPr>
        <p:spPr>
          <a:xfrm>
            <a:off x="3972619" y="3835598"/>
            <a:ext cx="2816651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Zero-Knowledge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972619" y="4186039"/>
            <a:ext cx="281665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Your data. Your device. Your rules.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7825" y="4607223"/>
            <a:ext cx="6284160" cy="934343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825" y="4607223"/>
            <a:ext cx="6284160" cy="19050"/>
          </a:xfrm>
          <a:prstGeom prst="roundRect">
            <a:avLst>
              <a:gd name="adj" fmla="val 358945"/>
            </a:avLst>
          </a:prstGeom>
          <a:solidFill>
            <a:srgbClr val="56565B"/>
          </a:solidFill>
          <a:ln/>
        </p:spPr>
      </p:sp>
      <p:sp>
        <p:nvSpPr>
          <p:cNvPr id="16" name="Text 13"/>
          <p:cNvSpPr/>
          <p:nvPr/>
        </p:nvSpPr>
        <p:spPr>
          <a:xfrm>
            <a:off x="830539" y="4769941"/>
            <a:ext cx="5958731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Peer-to-Peer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0539" y="5120382"/>
            <a:ext cx="595873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 servers. No intermediaries.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61475" y="5728196"/>
            <a:ext cx="19050" cy="619026"/>
          </a:xfrm>
          <a:prstGeom prst="roundRect">
            <a:avLst>
              <a:gd name="adj" fmla="val 59999"/>
            </a:avLst>
          </a:prstGeom>
          <a:solidFill>
            <a:srgbClr val="F2F2F3"/>
          </a:solidFill>
          <a:ln/>
        </p:spPr>
      </p:sp>
      <p:sp>
        <p:nvSpPr>
          <p:cNvPr id="19" name="Text 16"/>
          <p:cNvSpPr/>
          <p:nvPr/>
        </p:nvSpPr>
        <p:spPr>
          <a:xfrm>
            <a:off x="905646" y="5908477"/>
            <a:ext cx="666227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Thank you.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Questions are welcome.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2026-07-23T16:01:16Z</dcterms:created>
  <dcterms:modified xsi:type="dcterms:W3CDTF">2026-07-23T16:01:16Z</dcterms:modified>
</cp:coreProperties>
</file>