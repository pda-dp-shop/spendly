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strument Sans"/>
      <p:regular r:id="rId201314"/>
    </p:embeddedFont>
    <p:embeddedFont>
      <p:font typeface="Instrument Sans Medium"/>
      <p:regular r:id="rId201315"/>
    </p:embeddedFont>
    <p:embeddedFont>
      <p:font typeface="Instrument Sans SemiBold"/>
      <p:regular r:id="rId201316"/>
    </p:embeddedFont>
    <p:embeddedFont>
      <p:font typeface="Instrument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2A2D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2.png"/><Relationship Id="rId5" Type="http://schemas.openxmlformats.org/officeDocument/2006/relationships/image" Target="../media/image-3-3.svg"/><Relationship Id="rId6" Type="http://schemas.openxmlformats.org/officeDocument/2006/relationships/image" Target="../media/image-3-2.png"/><Relationship Id="rId7" Type="http://schemas.openxmlformats.org/officeDocument/2006/relationships/image" Target="../media/image-3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image" Target="../media/image-4-2.png"/><Relationship Id="rId7" Type="http://schemas.openxmlformats.org/officeDocument/2006/relationships/image" Target="../media/image-4-3.svg"/><Relationship Id="rId8" Type="http://schemas.openxmlformats.org/officeDocument/2006/relationships/image" Target="../media/image-4-2.png"/><Relationship Id="rId9" Type="http://schemas.openxmlformats.org/officeDocument/2006/relationships/image" Target="../media/image-4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image" Target="../media/image-7-8.png"/><Relationship Id="rId9" Type="http://schemas.openxmlformats.org/officeDocument/2006/relationships/image" Target="../media/image-7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2.png"/><Relationship Id="rId5" Type="http://schemas.openxmlformats.org/officeDocument/2006/relationships/image" Target="../media/image-9-3.svg"/><Relationship Id="rId6" Type="http://schemas.openxmlformats.org/officeDocument/2006/relationships/image" Target="../media/image-9-2.png"/><Relationship Id="rId7" Type="http://schemas.openxmlformats.org/officeDocument/2006/relationships/image" Target="../media/image-9-3.svg"/><Relationship Id="rId8" Type="http://schemas.openxmlformats.org/officeDocument/2006/relationships/image" Target="../media/image-9-8.png"/><Relationship Id="rId9" Type="http://schemas.openxmlformats.org/officeDocument/2006/relationships/image" Target="../media/image-9-9.svg"/><Relationship Id="rId10" Type="http://schemas.openxmlformats.org/officeDocument/2006/relationships/image" Target="../media/image-9-8.png"/><Relationship Id="rId11" Type="http://schemas.openxmlformats.org/officeDocument/2006/relationships/image" Target="../media/image-9-9.svg"/><Relationship Id="rId12" Type="http://schemas.openxmlformats.org/officeDocument/2006/relationships/slideLayout" Target="../slideLayouts/slideLayout2.xml"/><Relationship Id="rId1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917377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Spendly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791494"/>
            <a:ext cx="6296860" cy="3260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1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Offline-First Zero-Knowledge Peer-to-Peer Finance Ecosystem</a:t>
            </a:r>
            <a:endParaRPr lang="en-US" sz="5100" dirty="0"/>
          </a:p>
        </p:txBody>
      </p:sp>
      <p:sp>
        <p:nvSpPr>
          <p:cNvPr id="5" name="Text 2"/>
          <p:cNvSpPr/>
          <p:nvPr/>
        </p:nvSpPr>
        <p:spPr>
          <a:xfrm>
            <a:off x="661475" y="5335687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Student Name · Enrollment Number · Semester VII · Information Technology · College Name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82042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The Problem We're Solving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1656159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Modern finance is built on fragile assumptions — always-online, always-trusted, always-exposed.</a:t>
            </a: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61475" y="2473623"/>
            <a:ext cx="3053877" cy="2009080"/>
          </a:xfrm>
          <a:prstGeom prst="roundRect">
            <a:avLst>
              <a:gd name="adj" fmla="val 395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56832" y="2668984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Privacy at Risk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3077666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Centralized servers store every transaction, creating permanent vulnerability to breaches and surveillance.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3904359" y="2473623"/>
            <a:ext cx="3053976" cy="2009080"/>
          </a:xfrm>
          <a:prstGeom prst="roundRect">
            <a:avLst>
              <a:gd name="adj" fmla="val 395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99715" y="2668984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Cloud Dependency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4099715" y="3077666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Offline scenarios break billing, inventory, and payments entirely — a critical failure for real-world commerce.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661475" y="4671715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56832" y="486707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High POS Costs</a:t>
            </a:r>
            <a:endParaRPr lang="en-US" sz="1850" dirty="0"/>
          </a:p>
        </p:txBody>
      </p:sp>
      <p:sp>
        <p:nvSpPr>
          <p:cNvPr id="13" name="Text 10"/>
          <p:cNvSpPr/>
          <p:nvPr/>
        </p:nvSpPr>
        <p:spPr>
          <a:xfrm>
            <a:off x="856832" y="5275759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Monthly SaaS fees for point-of-sale systems are prohibitive for small merchants and independent retailers.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40767"/>
            <a:ext cx="6296860" cy="1004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Introducing the Spendly Ecosystem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5233360" y="1949648"/>
            <a:ext cx="6906444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Three applications. One unified vision. Zero compromise on privacy or performance.</a:t>
            </a:r>
            <a:endParaRPr lang="en-US" sz="12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3360" y="2340967"/>
            <a:ext cx="6296860" cy="116770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9239" y="2520652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Spendly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489239" y="2853531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Personal finance and peer-to-peer payments — entirely offline-first, zero-knowledge architecture, biometric-secured.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3360" y="3645198"/>
            <a:ext cx="6296860" cy="116770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9239" y="3824883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Spendly Shop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489239" y="4157762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Merchant billing, inventory management, and QR invoice generation — no internet, no monthly fees.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3360" y="4949428"/>
            <a:ext cx="6296860" cy="116770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9239" y="5129113"/>
            <a:ext cx="586130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Spendly Radar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489239" y="5461992"/>
            <a:ext cx="5861300" cy="475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Proximity-based offer discovery and coupon claiming through encrypted local peer-to-peer communication.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07219"/>
            <a:ext cx="10868745" cy="472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System Architecture</a:t>
            </a:r>
            <a:endParaRPr lang="en-US" sz="29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7860" y="1397099"/>
            <a:ext cx="2851376" cy="285144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0956" y="2605088"/>
            <a:ext cx="6935515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layered, offline-first architecture where every component operates independently — and synchronizes only when trusted peers are present.</a:t>
            </a:r>
            <a:endParaRPr lang="en-US" sz="11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8127" y="4525218"/>
            <a:ext cx="226808" cy="22681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52893" y="4520605"/>
            <a:ext cx="486735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React + PWA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1152893" y="4829373"/>
            <a:ext cx="486735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Responsive interface, installable on any device without app stores.</a:t>
            </a:r>
            <a:endParaRPr lang="en-US" sz="11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28103" y="4525218"/>
            <a:ext cx="226808" cy="22681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662868" y="4520605"/>
            <a:ext cx="486735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IndexedDB + Dexie.js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6662868" y="4829373"/>
            <a:ext cx="486735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Encrypted local database — data never leaves the device without consent.</a:t>
            </a:r>
            <a:endParaRPr lang="en-US" sz="11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8127" y="5511254"/>
            <a:ext cx="226808" cy="22681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52893" y="5506641"/>
            <a:ext cx="486735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WebRTC + PeerJS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1152893" y="5815409"/>
            <a:ext cx="4867352" cy="2176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Direct device-to-device communication, no relay server required.</a:t>
            </a:r>
            <a:endParaRPr lang="en-US" sz="11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28103" y="5511254"/>
            <a:ext cx="226808" cy="226814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662868" y="5506641"/>
            <a:ext cx="4867352" cy="236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Cloudflare Workers + KV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6662868" y="5815409"/>
            <a:ext cx="4867352" cy="4353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Edge compute for lightweight sync — zero persistent server infrastructure.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744141"/>
            <a:ext cx="6296860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How It Works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1475" y="1450975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61475" y="1704876"/>
            <a:ext cx="6296860" cy="19050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1823244"/>
            <a:ext cx="629686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Discover Offers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61475" y="2156123"/>
            <a:ext cx="629686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Spendly Radar detects nearby merchant offers through encrypted local broadcast.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1475" y="2650827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61475" y="2888655"/>
            <a:ext cx="6296860" cy="19050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10" name="Text 7"/>
          <p:cNvSpPr/>
          <p:nvPr/>
        </p:nvSpPr>
        <p:spPr>
          <a:xfrm>
            <a:off x="661475" y="3023096"/>
            <a:ext cx="629686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Claim Coupon · Scan Product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61475" y="3355975"/>
            <a:ext cx="629686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claims offer; merchant scans product barcode or SKU for instant lookup.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1475" y="3850680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03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1475" y="4072533"/>
            <a:ext cx="6296860" cy="19050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75" y="4222948"/>
            <a:ext cx="629686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Offer Validation · Invoice Generation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61475" y="4555827"/>
            <a:ext cx="629686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System validates eligibility offline; generates a signed QR invoice instantly.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61475" y="5050532"/>
            <a:ext cx="321262" cy="20081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04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61475" y="5256312"/>
            <a:ext cx="6296860" cy="19050"/>
          </a:xfrm>
          <a:prstGeom prst="rect">
            <a:avLst/>
          </a:prstGeom>
          <a:solidFill>
            <a:srgbClr val="E4E4E7"/>
          </a:solidFill>
          <a:ln/>
        </p:spPr>
      </p:sp>
      <p:sp>
        <p:nvSpPr>
          <p:cNvPr id="18" name="Text 15"/>
          <p:cNvSpPr/>
          <p:nvPr/>
        </p:nvSpPr>
        <p:spPr>
          <a:xfrm>
            <a:off x="661475" y="5422801"/>
            <a:ext cx="6296860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Invoice Sharing · Local Storage · Analytics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61475" y="5755680"/>
            <a:ext cx="6296860" cy="2377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Invoice shared peer-to-peer; stored locally; analytics updated in real time.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271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Technology Stack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33201" y="2291655"/>
            <a:ext cx="2175019" cy="1782266"/>
          </a:xfrm>
          <a:prstGeom prst="roundRect">
            <a:avLst>
              <a:gd name="adj" fmla="val 445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828558" y="2487017"/>
            <a:ext cx="17843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Frontend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4828558" y="2971304"/>
            <a:ext cx="1784305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React · Vite · Tailwind CSS · Zustand · Framer Motion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997227" y="2291655"/>
            <a:ext cx="2175118" cy="1782266"/>
          </a:xfrm>
          <a:prstGeom prst="roundRect">
            <a:avLst>
              <a:gd name="adj" fmla="val 445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192584" y="2487017"/>
            <a:ext cx="17844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Backend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7192584" y="2971304"/>
            <a:ext cx="17844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Cloudflare Workers · Worker KV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9361353" y="2291655"/>
            <a:ext cx="2175118" cy="1782266"/>
          </a:xfrm>
          <a:prstGeom prst="roundRect">
            <a:avLst>
              <a:gd name="adj" fmla="val 445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556709" y="2487017"/>
            <a:ext cx="178440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Networking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9556709" y="2971304"/>
            <a:ext cx="178440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WebRTC · PeerJS · ntfy.sh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4633201" y="4262934"/>
            <a:ext cx="3357082" cy="1177429"/>
          </a:xfrm>
          <a:prstGeom prst="roundRect">
            <a:avLst>
              <a:gd name="adj" fmla="val 6742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28558" y="4458295"/>
            <a:ext cx="2966368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Security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4828558" y="4942582"/>
            <a:ext cx="2966368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WebAuthn · AES-256-GCM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8179290" y="4262934"/>
            <a:ext cx="3357181" cy="1177429"/>
          </a:xfrm>
          <a:prstGeom prst="roundRect">
            <a:avLst>
              <a:gd name="adj" fmla="val 6742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74647" y="4458295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Database</a:t>
            </a:r>
            <a:endParaRPr lang="en-US" sz="1850" dirty="0"/>
          </a:p>
        </p:txBody>
      </p:sp>
      <p:sp>
        <p:nvSpPr>
          <p:cNvPr id="18" name="Text 15"/>
          <p:cNvSpPr/>
          <p:nvPr/>
        </p:nvSpPr>
        <p:spPr>
          <a:xfrm>
            <a:off x="8374647" y="4942582"/>
            <a:ext cx="2966467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IndexedDB · Dexie.js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24483"/>
            <a:ext cx="6296860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Security by Design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61475" y="1385689"/>
            <a:ext cx="629686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Every layer of Spendly is engineered around a single principle: </a:t>
            </a:r>
            <a:pPr algn="l" indent="0" marL="0">
              <a:lnSpc>
                <a:spcPct val="127000"/>
              </a:lnSpc>
              <a:buNone/>
            </a:pPr>
            <a:r>
              <a:rPr lang="en-US" sz="1300" b="1" dirty="0">
                <a:solidFill>
                  <a:srgbClr val="CFD0D8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your data belongs to you, and only you.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075061"/>
            <a:ext cx="425241" cy="42525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278005" y="2075061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Zero-Knowledge Architecture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278005" y="2432546"/>
            <a:ext cx="5680330" cy="2585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server ever sees your financial data. Not in transit. Not at rest.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2997299"/>
            <a:ext cx="425241" cy="42525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278005" y="2997299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WebAuthn + Biometric Unlock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1278005" y="3354784"/>
            <a:ext cx="568033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Hardware-backed authentication via fingerprint or face — no passwords, ever.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178102"/>
            <a:ext cx="425241" cy="42525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278005" y="4178102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AES-256-GCM Encryption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1278005" y="4535587"/>
            <a:ext cx="568033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Military-grade encryption applied to every record stored in IndexedDB locally.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358904"/>
            <a:ext cx="425241" cy="42525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278005" y="5358904"/>
            <a:ext cx="5680330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Offline-First by Default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1278005" y="5716389"/>
            <a:ext cx="5680330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3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Full functionality without internet. Sync occurs only when a trusted peer is in range.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5613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Key Features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61475" y="1530251"/>
            <a:ext cx="6296860" cy="4671616"/>
          </a:xfrm>
          <a:prstGeom prst="roundRect">
            <a:avLst>
              <a:gd name="adj" fmla="val 1699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67825" y="1536601"/>
            <a:ext cx="6284160" cy="1089124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6" name="Text 3"/>
          <p:cNvSpPr/>
          <p:nvPr/>
        </p:nvSpPr>
        <p:spPr>
          <a:xfrm>
            <a:off x="856832" y="1725613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Expense Tracking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856832" y="2134295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categorization with local analytics — no cloud required.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67825" y="2625725"/>
            <a:ext cx="6284160" cy="1089124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9" name="Shape 6"/>
          <p:cNvSpPr/>
          <p:nvPr/>
        </p:nvSpPr>
        <p:spPr>
          <a:xfrm>
            <a:off x="667825" y="2625725"/>
            <a:ext cx="6284160" cy="25400"/>
          </a:xfrm>
          <a:prstGeom prst="roundRect">
            <a:avLst>
              <a:gd name="adj" fmla="val 312550"/>
            </a:avLst>
          </a:prstGeom>
          <a:solidFill>
            <a:srgbClr val="56565B"/>
          </a:solidFill>
          <a:ln/>
        </p:spPr>
      </p:sp>
      <p:sp>
        <p:nvSpPr>
          <p:cNvPr id="10" name="Text 7"/>
          <p:cNvSpPr/>
          <p:nvPr/>
        </p:nvSpPr>
        <p:spPr>
          <a:xfrm>
            <a:off x="856832" y="2814737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Merchant Billing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856832" y="3223419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Instant QR invoice generation with offline inventory lookup.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67825" y="3714849"/>
            <a:ext cx="6284160" cy="1089124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13" name="Shape 10"/>
          <p:cNvSpPr/>
          <p:nvPr/>
        </p:nvSpPr>
        <p:spPr>
          <a:xfrm>
            <a:off x="667825" y="3714849"/>
            <a:ext cx="6284160" cy="25400"/>
          </a:xfrm>
          <a:prstGeom prst="roundRect">
            <a:avLst>
              <a:gd name="adj" fmla="val 312550"/>
            </a:avLst>
          </a:prstGeom>
          <a:solidFill>
            <a:srgbClr val="56565B"/>
          </a:solidFill>
          <a:ln/>
        </p:spPr>
      </p:sp>
      <p:sp>
        <p:nvSpPr>
          <p:cNvPr id="14" name="Text 11"/>
          <p:cNvSpPr/>
          <p:nvPr/>
        </p:nvSpPr>
        <p:spPr>
          <a:xfrm>
            <a:off x="856832" y="3903861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Cash Wallet + EMI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856832" y="4312543"/>
            <a:ext cx="590614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Track cash flow and EMI reminders without any bank integration.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67825" y="4803973"/>
            <a:ext cx="6284160" cy="1391543"/>
          </a:xfrm>
          <a:prstGeom prst="rect">
            <a:avLst/>
          </a:prstGeom>
          <a:solidFill>
            <a:srgbClr val="3D3D42"/>
          </a:solidFill>
          <a:ln/>
        </p:spPr>
      </p:sp>
      <p:sp>
        <p:nvSpPr>
          <p:cNvPr id="17" name="Shape 14"/>
          <p:cNvSpPr/>
          <p:nvPr/>
        </p:nvSpPr>
        <p:spPr>
          <a:xfrm>
            <a:off x="667825" y="4803973"/>
            <a:ext cx="6284160" cy="25400"/>
          </a:xfrm>
          <a:prstGeom prst="roundRect">
            <a:avLst>
              <a:gd name="adj" fmla="val 312550"/>
            </a:avLst>
          </a:prstGeom>
          <a:solidFill>
            <a:srgbClr val="56565B"/>
          </a:solidFill>
          <a:ln/>
        </p:spPr>
      </p:sp>
      <p:sp>
        <p:nvSpPr>
          <p:cNvPr id="18" name="Text 15"/>
          <p:cNvSpPr/>
          <p:nvPr/>
        </p:nvSpPr>
        <p:spPr>
          <a:xfrm>
            <a:off x="856832" y="499298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Offline Sync</a:t>
            </a:r>
            <a:endParaRPr lang="en-US" sz="1850" dirty="0"/>
          </a:p>
        </p:txBody>
      </p:sp>
      <p:sp>
        <p:nvSpPr>
          <p:cNvPr id="19" name="Text 16"/>
          <p:cNvSpPr/>
          <p:nvPr/>
        </p:nvSpPr>
        <p:spPr>
          <a:xfrm>
            <a:off x="856832" y="5401667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Peer-to-peer synchronization resumes automatically when devices reconnect.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49796"/>
            <a:ext cx="10868745" cy="502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Advantages &amp; Future Scope</a:t>
            </a:r>
            <a:endParaRPr lang="en-US" sz="31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672" y="2273895"/>
            <a:ext cx="3016869" cy="301694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608993" y="1610221"/>
            <a:ext cx="1696797" cy="243979"/>
          </a:xfrm>
          <a:prstGeom prst="roundRect">
            <a:avLst>
              <a:gd name="adj" fmla="val 22126"/>
            </a:avLst>
          </a:prstGeom>
          <a:solidFill>
            <a:srgbClr val="252528"/>
          </a:solidFill>
          <a:ln/>
        </p:spPr>
      </p:sp>
      <p:sp>
        <p:nvSpPr>
          <p:cNvPr id="5" name="Text 2"/>
          <p:cNvSpPr/>
          <p:nvPr/>
        </p:nvSpPr>
        <p:spPr>
          <a:xfrm>
            <a:off x="4705332" y="1658342"/>
            <a:ext cx="2113703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CURRENT ADVANTAGES</a:t>
            </a:r>
            <a:endParaRPr lang="en-US" sz="10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08993" y="2007791"/>
            <a:ext cx="2218079" cy="193555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864871" y="2187476"/>
            <a:ext cx="178251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Zero Server Cost</a:t>
            </a:r>
            <a:endParaRPr lang="en-US" sz="1550" dirty="0"/>
          </a:p>
        </p:txBody>
      </p:sp>
      <p:sp>
        <p:nvSpPr>
          <p:cNvPr id="8" name="Text 4"/>
          <p:cNvSpPr/>
          <p:nvPr/>
        </p:nvSpPr>
        <p:spPr>
          <a:xfrm>
            <a:off x="4864871" y="2575024"/>
            <a:ext cx="1782519" cy="1188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Edge-only infrastructure eliminates recurring hosting expenses entirely.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963593" y="2007791"/>
            <a:ext cx="2218178" cy="193555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219472" y="2187476"/>
            <a:ext cx="178261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Privacy First</a:t>
            </a:r>
            <a:endParaRPr lang="en-US" sz="1550" dirty="0"/>
          </a:p>
        </p:txBody>
      </p:sp>
      <p:sp>
        <p:nvSpPr>
          <p:cNvPr id="11" name="Text 6"/>
          <p:cNvSpPr/>
          <p:nvPr/>
        </p:nvSpPr>
        <p:spPr>
          <a:xfrm>
            <a:off x="7219472" y="2575024"/>
            <a:ext cx="1782619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telemetry, no tracking, no third-party data exposure — ever.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318293" y="2007791"/>
            <a:ext cx="2218079" cy="193555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574171" y="2187476"/>
            <a:ext cx="178251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Fast Offline Billing</a:t>
            </a:r>
            <a:endParaRPr lang="en-US" sz="1550" dirty="0"/>
          </a:p>
        </p:txBody>
      </p:sp>
      <p:sp>
        <p:nvSpPr>
          <p:cNvPr id="14" name="Text 8"/>
          <p:cNvSpPr/>
          <p:nvPr/>
        </p:nvSpPr>
        <p:spPr>
          <a:xfrm>
            <a:off x="9574171" y="2575024"/>
            <a:ext cx="1782519" cy="950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Transactions complete in milliseconds, independent of network state.</a:t>
            </a:r>
            <a:endParaRPr lang="en-US" sz="1250" dirty="0"/>
          </a:p>
        </p:txBody>
      </p:sp>
      <p:sp>
        <p:nvSpPr>
          <p:cNvPr id="15" name="Shape 9"/>
          <p:cNvSpPr/>
          <p:nvPr/>
        </p:nvSpPr>
        <p:spPr>
          <a:xfrm>
            <a:off x="4608993" y="4096941"/>
            <a:ext cx="1386250" cy="243979"/>
          </a:xfrm>
          <a:prstGeom prst="roundRect">
            <a:avLst>
              <a:gd name="adj" fmla="val 22126"/>
            </a:avLst>
          </a:prstGeom>
          <a:noFill/>
          <a:ln w="6350">
            <a:solidFill>
              <a:srgbClr val="D5D5D8"/>
            </a:solidFill>
            <a:prstDash val="solid"/>
          </a:ln>
        </p:spPr>
      </p:sp>
      <p:sp>
        <p:nvSpPr>
          <p:cNvPr id="16" name="Text 10"/>
          <p:cNvSpPr/>
          <p:nvPr/>
        </p:nvSpPr>
        <p:spPr>
          <a:xfrm>
            <a:off x="4705332" y="4145062"/>
            <a:ext cx="1803156" cy="147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000" dirty="0">
                <a:solidFill>
                  <a:srgbClr val="D5D5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FUTURE ROADMAP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08993" y="4494510"/>
            <a:ext cx="3395478" cy="1460103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4864871" y="4674195"/>
            <a:ext cx="295991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AI Analytics · Voice Billing</a:t>
            </a:r>
            <a:endParaRPr lang="en-US" sz="1550" dirty="0"/>
          </a:p>
        </p:txBody>
      </p:sp>
      <p:sp>
        <p:nvSpPr>
          <p:cNvPr id="19" name="Text 12"/>
          <p:cNvSpPr/>
          <p:nvPr/>
        </p:nvSpPr>
        <p:spPr>
          <a:xfrm>
            <a:off x="4864871" y="5061744"/>
            <a:ext cx="2959919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On-device intelligence for spending insights and hands-free merchant input.</a:t>
            </a:r>
            <a:endParaRPr lang="en-US" sz="1250" dirty="0"/>
          </a:p>
        </p:txBody>
      </p:sp>
      <p:pic>
        <p:nvPicPr>
          <p:cNvPr id="20" name="Image 5" descr="preencoded.png">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140992" y="4494510"/>
            <a:ext cx="3395478" cy="1460103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8396871" y="4674195"/>
            <a:ext cx="2959919" cy="2510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NFC · UPI · GST · Multi-Store</a:t>
            </a:r>
            <a:endParaRPr lang="en-US" sz="1550" dirty="0"/>
          </a:p>
        </p:txBody>
      </p:sp>
      <p:sp>
        <p:nvSpPr>
          <p:cNvPr id="22" name="Text 14"/>
          <p:cNvSpPr/>
          <p:nvPr/>
        </p:nvSpPr>
        <p:spPr>
          <a:xfrm>
            <a:off x="8396871" y="5061744"/>
            <a:ext cx="2959919" cy="713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Native payment rails, compliance tooling, and scalable merchant management.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661888"/>
            <a:ext cx="6296860" cy="552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Conclusion</a:t>
            </a:r>
            <a:endParaRPr lang="en-US" sz="3450" dirty="0"/>
          </a:p>
        </p:txBody>
      </p:sp>
      <p:sp>
        <p:nvSpPr>
          <p:cNvPr id="4" name="Text 1"/>
          <p:cNvSpPr/>
          <p:nvPr/>
        </p:nvSpPr>
        <p:spPr>
          <a:xfrm>
            <a:off x="661475" y="1462187"/>
            <a:ext cx="6296860" cy="8209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Spendly redefines personal and merchant finance — built on zero-knowledge architecture, peer-to-peer communication, and an uncompromising commitment to privacy. No servers. No exposure. No compromise.</a:t>
            </a:r>
            <a:endParaRPr lang="en-US" sz="1350" dirty="0"/>
          </a:p>
        </p:txBody>
      </p:sp>
      <p:sp>
        <p:nvSpPr>
          <p:cNvPr id="5" name="Shape 2"/>
          <p:cNvSpPr/>
          <p:nvPr/>
        </p:nvSpPr>
        <p:spPr>
          <a:xfrm>
            <a:off x="661475" y="2469059"/>
            <a:ext cx="3065783" cy="1015008"/>
          </a:xfrm>
          <a:prstGeom prst="roundRect">
            <a:avLst>
              <a:gd name="adj" fmla="val 731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4529" y="2652117"/>
            <a:ext cx="269967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Privacy-First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44529" y="3027363"/>
            <a:ext cx="2699675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Zero-knowledge by design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3892552" y="2469059"/>
            <a:ext cx="3065783" cy="1015008"/>
          </a:xfrm>
          <a:prstGeom prst="roundRect">
            <a:avLst>
              <a:gd name="adj" fmla="val 731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075606" y="2652117"/>
            <a:ext cx="2699675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Offline-First</a:t>
            </a:r>
            <a:endParaRPr lang="en-US" sz="1700" dirty="0"/>
          </a:p>
        </p:txBody>
      </p:sp>
      <p:sp>
        <p:nvSpPr>
          <p:cNvPr id="10" name="Text 7"/>
          <p:cNvSpPr/>
          <p:nvPr/>
        </p:nvSpPr>
        <p:spPr>
          <a:xfrm>
            <a:off x="4075606" y="3027363"/>
            <a:ext cx="2699675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Works without internet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661475" y="3649365"/>
            <a:ext cx="6296860" cy="1015008"/>
          </a:xfrm>
          <a:prstGeom prst="roundRect">
            <a:avLst>
              <a:gd name="adj" fmla="val 7314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4529" y="3832423"/>
            <a:ext cx="5930752" cy="2761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CFD0D8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Peer-to-Peer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844529" y="4207669"/>
            <a:ext cx="5930752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No central authority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661475" y="4912320"/>
            <a:ext cx="6296860" cy="762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00" dirty="0">
                <a:solidFill>
                  <a:srgbClr val="CBCCCE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15" name="Text 12"/>
          <p:cNvSpPr/>
          <p:nvPr/>
        </p:nvSpPr>
        <p:spPr>
          <a:xfrm>
            <a:off x="661475" y="5922466"/>
            <a:ext cx="6906444" cy="2736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350" dirty="0">
                <a:solidFill>
                  <a:srgbClr val="CFD0D8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Questions &amp; Answers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2026-07-23T17:39:01Z</dcterms:created>
  <dcterms:modified xsi:type="dcterms:W3CDTF">2026-07-23T17:39:01Z</dcterms:modified>
</cp:coreProperties>
</file>