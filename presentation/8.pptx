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ontserrat Thin"/>
      <p:regular r:id="rId201314"/>
    </p:embeddedFont>
    <p:embeddedFont>
      <p:font typeface="Montserrat"/>
      <p:regular r:id="rId201315"/>
    </p:embeddedFont>
    <p:embeddedFont>
      <p:font typeface="Montserrat SemiBold"/>
      <p:regular r:id="rId201316"/>
    </p:embeddedFont>
    <p:embeddedFont>
      <p:font typeface="Montserrat Bold"/>
      <p:regular r:id="rId201317"/>
    </p:embeddedFont>
    <p:embeddedFont>
      <p:font typeface="Montserrat Black"/>
      <p:regular r:id="rId201318"/>
    </p:embeddedFont>
    <p:embeddedFont>
      <p:font typeface="Montserrat Light"/>
      <p:regular r:id="rId201319"/>
    </p:embeddedFont>
    <p:embeddedFont>
      <p:font typeface="Montserrat ExtraLight"/>
      <p:regular r:id="rId201320"/>
    </p:embeddedFont>
    <p:embeddedFont>
      <p:font typeface="Montserrat Medium"/>
      <p:regular r:id="rId201321"/>
    </p:embeddedFont>
    <p:embeddedFont>
      <p:font typeface="Montserrat ExtraBold"/>
      <p:regular r:id="rId201322"/>
    </p:embeddedFont>
    <p:embeddedFont>
      <p:font typeface="Source Sans 3 ExtraLight"/>
      <p:regular r:id="rId201323"/>
    </p:embeddedFont>
    <p:embeddedFont>
      <p:font typeface="Source Sans 3 Light"/>
      <p:regular r:id="rId201324"/>
    </p:embeddedFont>
    <p:embeddedFont>
      <p:font typeface="Source Sans 3"/>
      <p:regular r:id="rId201325"/>
    </p:embeddedFont>
    <p:embeddedFont>
      <p:font typeface="Source Sans 3 Medium"/>
      <p:regular r:id="rId201326"/>
    </p:embeddedFont>
    <p:embeddedFont>
      <p:font typeface="Source Sans 3 SemiBold"/>
      <p:regular r:id="rId201327"/>
    </p:embeddedFont>
    <p:embeddedFont>
      <p:font typeface="Source Sans 3 Bold"/>
      <p:regular r:id="rId201328"/>
    </p:embeddedFont>
    <p:embeddedFont>
      <p:font typeface="Source Sans 3 ExtraBold"/>
      <p:regular r:id="rId201329"/>
    </p:embeddedFont>
    <p:embeddedFont>
      <p:font typeface="Source Sans 3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9.png"/><Relationship Id="rId14" Type="http://schemas.openxmlformats.org/officeDocument/2006/relationships/image" Target="../media/image-8-10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9.png"/><Relationship Id="rId18" Type="http://schemas.openxmlformats.org/officeDocument/2006/relationships/image" Target="../media/image-8-10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image" Target="../media/image-8-9.png"/><Relationship Id="rId22" Type="http://schemas.openxmlformats.org/officeDocument/2006/relationships/image" Target="../media/image-8-10.svg"/><Relationship Id="rId23" Type="http://schemas.openxmlformats.org/officeDocument/2006/relationships/image" Target="../media/image-8-23.png"/><Relationship Id="rId24" Type="http://schemas.openxmlformats.org/officeDocument/2006/relationships/image" Target="../media/image-8-24.svg"/><Relationship Id="rId25" Type="http://schemas.openxmlformats.org/officeDocument/2006/relationships/image" Target="../media/image-8-9.png"/><Relationship Id="rId26" Type="http://schemas.openxmlformats.org/officeDocument/2006/relationships/image" Target="../media/image-8-10.svg"/><Relationship Id="rId27" Type="http://schemas.openxmlformats.org/officeDocument/2006/relationships/image" Target="../media/image-8-27.png"/><Relationship Id="rId28" Type="http://schemas.openxmlformats.org/officeDocument/2006/relationships/image" Target="../media/image-8-28.svg"/><Relationship Id="rId29" Type="http://schemas.openxmlformats.org/officeDocument/2006/relationships/image" Target="../media/image-8-9.png"/><Relationship Id="rId30" Type="http://schemas.openxmlformats.org/officeDocument/2006/relationships/image" Target="../media/image-8-10.svg"/><Relationship Id="rId31" Type="http://schemas.openxmlformats.org/officeDocument/2006/relationships/image" Target="../media/image-8-31.png"/><Relationship Id="rId32" Type="http://schemas.openxmlformats.org/officeDocument/2006/relationships/image" Target="../media/image-8-32.svg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1121172"/>
            <a:ext cx="6180181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Spendly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91700" y="1902321"/>
            <a:ext cx="6180181" cy="282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Offline-First Zero-Knowledge Peer-to-Peer Finance Ecosystem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291700" y="4994374"/>
            <a:ext cx="6180181" cy="74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550"/>
              </a:spcAft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Semester VII · Information Technology · Major Project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[Student Name] · [Enrollment Number] · [College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91700" y="673993"/>
            <a:ext cx="868043" cy="218777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78018" y="717153"/>
            <a:ext cx="1304992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291700" y="938808"/>
            <a:ext cx="618018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Financial World Is Broken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5291700" y="1520527"/>
            <a:ext cx="618018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transaction today leaves a trace — stored on servers you don't control, exposed to breaches you can't prevent, and dependent on infrastructure you can't trust. The current model is fundamentally flawed.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291700" y="2232918"/>
            <a:ext cx="6180181" cy="950020"/>
          </a:xfrm>
          <a:prstGeom prst="roundRect">
            <a:avLst>
              <a:gd name="adj" fmla="val 2273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5435662" y="2376884"/>
            <a:ext cx="5892256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Privacy at Risk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35662" y="2650430"/>
            <a:ext cx="5892256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Centralized databases expose sensitive financial data to third parties, advertisers, and malicious actors.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91700" y="3298031"/>
            <a:ext cx="6180181" cy="950020"/>
          </a:xfrm>
          <a:prstGeom prst="roundRect">
            <a:avLst>
              <a:gd name="adj" fmla="val 2273"/>
            </a:avLst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5435662" y="3441998"/>
            <a:ext cx="5892256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Cloud Dependency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35662" y="3715544"/>
            <a:ext cx="5892256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Offline environments render modern payment systems completely useless — a critical failure in emerging markets.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91700" y="4363145"/>
            <a:ext cx="6180181" cy="950020"/>
          </a:xfrm>
          <a:prstGeom prst="roundRect">
            <a:avLst>
              <a:gd name="adj" fmla="val 2273"/>
            </a:avLst>
          </a:prstGeom>
          <a:solidFill>
            <a:srgbClr val="303132"/>
          </a:solidFill>
          <a:ln/>
        </p:spPr>
      </p:sp>
      <p:sp>
        <p:nvSpPr>
          <p:cNvPr id="14" name="Text 11"/>
          <p:cNvSpPr/>
          <p:nvPr/>
        </p:nvSpPr>
        <p:spPr>
          <a:xfrm>
            <a:off x="5435662" y="4507111"/>
            <a:ext cx="5892256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Breaches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35662" y="4780657"/>
            <a:ext cx="5892256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Centralized storage is a single point of failure. One breach exposes millions of users simultaneously.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291700" y="5428258"/>
            <a:ext cx="6180181" cy="755749"/>
          </a:xfrm>
          <a:prstGeom prst="roundRect">
            <a:avLst>
              <a:gd name="adj" fmla="val 2858"/>
            </a:avLst>
          </a:prstGeom>
          <a:solidFill>
            <a:srgbClr val="303132"/>
          </a:solidFill>
          <a:ln/>
        </p:spPr>
      </p:sp>
      <p:sp>
        <p:nvSpPr>
          <p:cNvPr id="17" name="Text 14"/>
          <p:cNvSpPr/>
          <p:nvPr/>
        </p:nvSpPr>
        <p:spPr>
          <a:xfrm>
            <a:off x="5435662" y="5572224"/>
            <a:ext cx="5892256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 Costs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35662" y="5845770"/>
            <a:ext cx="5892256" cy="194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Traditional point-of-sale hardware demands monthly subscriptions and proprietary infrastructure.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9814" y="637778"/>
            <a:ext cx="957338" cy="232470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11589" y="683617"/>
            <a:ext cx="1383372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SOLUTION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19814" y="922238"/>
            <a:ext cx="6180181" cy="869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Introducing the Spendly Ecosystem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19814" y="1986359"/>
            <a:ext cx="6180181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 purpose-built applications working in concert — each designed for a distinct role, all unified by a shared zero-knowledge, offline-first architecture. Together, they redefine how money moves.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2769295"/>
            <a:ext cx="6180181" cy="10636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7954" y="2941241"/>
            <a:ext cx="576010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Spendly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967954" y="3236516"/>
            <a:ext cx="5760100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core personal finance application. Track expenses, manage wallets, generate invoices, and maintain complete financial sovereignty — entirely offline.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814" y="3962896"/>
            <a:ext cx="6180181" cy="10636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954" y="4134842"/>
            <a:ext cx="576010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Spendly Shop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967954" y="4430117"/>
            <a:ext cx="5760100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merchant-facing point-of-sale interface. Accept payments, manage inventory, and issue QR invoices without any internet connection or monthly fees.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9814" y="5156498"/>
            <a:ext cx="6180181" cy="10636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7954" y="5328444"/>
            <a:ext cx="576010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Spendly Radar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967954" y="5623719"/>
            <a:ext cx="5760100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peer-to-peer discovery and communication layer. Find nearby merchants, claim offers, and synchronize data securely over local networks.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519311"/>
            <a:ext cx="919735" cy="218777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6132" y="562471"/>
            <a:ext cx="1356683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9814" y="784126"/>
            <a:ext cx="10752067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19814" y="1365845"/>
            <a:ext cx="10752067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Spendly is engineered as a layered, privacy-preserving stack — each component chosen for its ability to operate without a central server while maintaining cryptographic guarantees.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021" y="1883966"/>
            <a:ext cx="8601654" cy="39366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95767" y="2412770"/>
            <a:ext cx="1729674" cy="216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Application Edge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5767" y="2696608"/>
            <a:ext cx="2097279" cy="342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Cloudflare Workers, Worker KV, WebAuthn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196904" y="3792316"/>
            <a:ext cx="1729674" cy="216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Network Mesh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998434" y="4076153"/>
            <a:ext cx="1928144" cy="171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9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WebRTC, PeerJS, ntfy.sh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095767" y="4374790"/>
            <a:ext cx="1729674" cy="216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95767" y="4658628"/>
            <a:ext cx="2097279" cy="342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IndexedDB, Dexie.js, AES-256-GCM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9814" y="5950148"/>
            <a:ext cx="10752067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architecture flows upward from persistent local storage through encrypted peer-to-peer networking, serverless edge compute, and finally a responsive React-based progressive web application — all operating without a traditional backend.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1481832"/>
            <a:ext cx="794028" cy="232470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589" y="1527671"/>
            <a:ext cx="1220062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19814" y="1766292"/>
            <a:ext cx="10752067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How Spendly Works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19814" y="2395835"/>
            <a:ext cx="11361652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discovery to settlement, every step in the Spendly workflow is designed to be fast, private, and fully offline-capable. No servers. No latency. No compromise.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9814" y="2754313"/>
            <a:ext cx="10752067" cy="1237754"/>
          </a:xfrm>
          <a:prstGeom prst="roundRect">
            <a:avLst>
              <a:gd name="adj" fmla="val 1854"/>
            </a:avLst>
          </a:prstGeom>
          <a:solidFill>
            <a:srgbClr val="303132"/>
          </a:solidFill>
          <a:ln/>
        </p:spPr>
      </p:sp>
      <p:sp>
        <p:nvSpPr>
          <p:cNvPr id="7" name="Shape 5"/>
          <p:cNvSpPr/>
          <p:nvPr/>
        </p:nvSpPr>
        <p:spPr>
          <a:xfrm>
            <a:off x="719814" y="2754313"/>
            <a:ext cx="2687967" cy="1237754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8" name="Text 6"/>
          <p:cNvSpPr/>
          <p:nvPr/>
        </p:nvSpPr>
        <p:spPr>
          <a:xfrm>
            <a:off x="872706" y="2907209"/>
            <a:ext cx="238218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Discover Offers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72706" y="3202484"/>
            <a:ext cx="2382183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Spendly Radar scans for nearby merchant promotions via local peer-to-peer discovery.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7781" y="2754313"/>
            <a:ext cx="2688066" cy="1237754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1" name="Shape 9"/>
          <p:cNvSpPr/>
          <p:nvPr/>
        </p:nvSpPr>
        <p:spPr>
          <a:xfrm>
            <a:off x="3407781" y="2754313"/>
            <a:ext cx="19050" cy="1237754"/>
          </a:xfrm>
          <a:prstGeom prst="roundRect">
            <a:avLst>
              <a:gd name="adj" fmla="val 120457"/>
            </a:avLst>
          </a:prstGeom>
          <a:solidFill>
            <a:srgbClr val="494A4B"/>
          </a:solidFill>
          <a:ln/>
        </p:spPr>
      </p:sp>
      <p:sp>
        <p:nvSpPr>
          <p:cNvPr id="12" name="Text 10"/>
          <p:cNvSpPr/>
          <p:nvPr/>
        </p:nvSpPr>
        <p:spPr>
          <a:xfrm>
            <a:off x="3560673" y="2907209"/>
            <a:ext cx="238228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Claim Coupon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60673" y="3202484"/>
            <a:ext cx="2382282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Offers are claimed and stored locally — encrypted and tied to your identity via WebAuthn.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5848" y="2754313"/>
            <a:ext cx="2687967" cy="1237754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2754313"/>
            <a:ext cx="19050" cy="1237754"/>
          </a:xfrm>
          <a:prstGeom prst="roundRect">
            <a:avLst>
              <a:gd name="adj" fmla="val 120457"/>
            </a:avLst>
          </a:prstGeom>
          <a:solidFill>
            <a:srgbClr val="494A4B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740" y="2907209"/>
            <a:ext cx="238218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Scan Product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48740" y="3202484"/>
            <a:ext cx="2382183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Merchant scans product barcode or SKU. Inventory lookup happens entirely on-device.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83815" y="2754313"/>
            <a:ext cx="2688066" cy="1237754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3815" y="2754313"/>
            <a:ext cx="19050" cy="1237754"/>
          </a:xfrm>
          <a:prstGeom prst="roundRect">
            <a:avLst>
              <a:gd name="adj" fmla="val 120457"/>
            </a:avLst>
          </a:prstGeom>
          <a:solidFill>
            <a:srgbClr val="494A4B"/>
          </a:solidFill>
          <a:ln/>
        </p:spPr>
      </p:sp>
      <p:sp>
        <p:nvSpPr>
          <p:cNvPr id="20" name="Text 18"/>
          <p:cNvSpPr/>
          <p:nvPr/>
        </p:nvSpPr>
        <p:spPr>
          <a:xfrm>
            <a:off x="8936707" y="2907209"/>
            <a:ext cx="238228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Offer Validation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936707" y="3202484"/>
            <a:ext cx="2382282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Applicable coupons are validated against the cart in real time with zero server calls.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9814" y="4138315"/>
            <a:ext cx="10752067" cy="1237754"/>
          </a:xfrm>
          <a:prstGeom prst="roundRect">
            <a:avLst>
              <a:gd name="adj" fmla="val 1854"/>
            </a:avLst>
          </a:prstGeom>
          <a:solidFill>
            <a:srgbClr val="303132"/>
          </a:solidFill>
          <a:ln/>
        </p:spPr>
      </p:sp>
      <p:sp>
        <p:nvSpPr>
          <p:cNvPr id="23" name="Shape 21"/>
          <p:cNvSpPr/>
          <p:nvPr/>
        </p:nvSpPr>
        <p:spPr>
          <a:xfrm>
            <a:off x="719814" y="4138315"/>
            <a:ext cx="2687967" cy="1237754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24" name="Text 22"/>
          <p:cNvSpPr/>
          <p:nvPr/>
        </p:nvSpPr>
        <p:spPr>
          <a:xfrm>
            <a:off x="872706" y="4291211"/>
            <a:ext cx="238218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Invoice Generation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72706" y="4586486"/>
            <a:ext cx="2382183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signed QR invoice is generated locally and presented to the customer instantly.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07781" y="4138315"/>
            <a:ext cx="2688066" cy="1237754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27" name="Shape 25"/>
          <p:cNvSpPr/>
          <p:nvPr/>
        </p:nvSpPr>
        <p:spPr>
          <a:xfrm>
            <a:off x="3407781" y="4138315"/>
            <a:ext cx="19050" cy="1237754"/>
          </a:xfrm>
          <a:prstGeom prst="roundRect">
            <a:avLst>
              <a:gd name="adj" fmla="val 120457"/>
            </a:avLst>
          </a:prstGeom>
          <a:solidFill>
            <a:srgbClr val="494A4B"/>
          </a:solidFill>
          <a:ln/>
        </p:spPr>
      </p:sp>
      <p:sp>
        <p:nvSpPr>
          <p:cNvPr id="28" name="Text 26"/>
          <p:cNvSpPr/>
          <p:nvPr/>
        </p:nvSpPr>
        <p:spPr>
          <a:xfrm>
            <a:off x="3560673" y="4291211"/>
            <a:ext cx="238228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Invoice Sharing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560673" y="4586486"/>
            <a:ext cx="2382282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Invoice is shared peer-to-peer via WebRTC and stored in IndexedDB for both parties.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95848" y="4138315"/>
            <a:ext cx="2687967" cy="1237754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5848" y="4138315"/>
            <a:ext cx="19050" cy="1237754"/>
          </a:xfrm>
          <a:prstGeom prst="roundRect">
            <a:avLst>
              <a:gd name="adj" fmla="val 120457"/>
            </a:avLst>
          </a:prstGeom>
          <a:solidFill>
            <a:srgbClr val="494A4B"/>
          </a:solidFill>
          <a:ln/>
        </p:spPr>
      </p:sp>
      <p:sp>
        <p:nvSpPr>
          <p:cNvPr id="32" name="Text 30"/>
          <p:cNvSpPr/>
          <p:nvPr/>
        </p:nvSpPr>
        <p:spPr>
          <a:xfrm>
            <a:off x="6248740" y="4291211"/>
            <a:ext cx="238218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Local Storage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248740" y="4586486"/>
            <a:ext cx="2382183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transaction records persist offline in encrypted IndexedDB with Dexie.js indexing.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783815" y="4138315"/>
            <a:ext cx="2688066" cy="1237754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35" name="Shape 33"/>
          <p:cNvSpPr/>
          <p:nvPr/>
        </p:nvSpPr>
        <p:spPr>
          <a:xfrm>
            <a:off x="8783815" y="4138315"/>
            <a:ext cx="19050" cy="1237754"/>
          </a:xfrm>
          <a:prstGeom prst="roundRect">
            <a:avLst>
              <a:gd name="adj" fmla="val 120457"/>
            </a:avLst>
          </a:prstGeom>
          <a:solidFill>
            <a:srgbClr val="494A4B"/>
          </a:solidFill>
          <a:ln/>
        </p:spPr>
      </p:sp>
      <p:sp>
        <p:nvSpPr>
          <p:cNvPr id="36" name="Text 34"/>
          <p:cNvSpPr/>
          <p:nvPr/>
        </p:nvSpPr>
        <p:spPr>
          <a:xfrm>
            <a:off x="8936707" y="4291211"/>
            <a:ext cx="238228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936707" y="4586486"/>
            <a:ext cx="2382282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Spending insights and merchant reports are computed locally — no data ever leaves the device.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1276350"/>
            <a:ext cx="1052387" cy="273447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7761" y="1330325"/>
            <a:ext cx="1446077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1621730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9814" y="2402880"/>
            <a:ext cx="1075206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technology in the Spendly stack was selected for a single reason: the ability to deliver a premium, secure, and fully offline experience without a traditional server.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9814" y="3145234"/>
            <a:ext cx="3464037" cy="126325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7" name="Text 5"/>
          <p:cNvSpPr/>
          <p:nvPr/>
        </p:nvSpPr>
        <p:spPr>
          <a:xfrm>
            <a:off x="899693" y="3325118"/>
            <a:ext cx="3104279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9693" y="3688655"/>
            <a:ext cx="3104279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· Vite · Tailwind CSS · Zustand · Framer Motion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3730" y="3145234"/>
            <a:ext cx="3464136" cy="126325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10" name="Text 8"/>
          <p:cNvSpPr/>
          <p:nvPr/>
        </p:nvSpPr>
        <p:spPr>
          <a:xfrm>
            <a:off x="4543609" y="3325118"/>
            <a:ext cx="310437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43609" y="3688655"/>
            <a:ext cx="3104378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Cloudflare Workers · Worker KV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7745" y="3145234"/>
            <a:ext cx="3464136" cy="126325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13" name="Text 11"/>
          <p:cNvSpPr/>
          <p:nvPr/>
        </p:nvSpPr>
        <p:spPr>
          <a:xfrm>
            <a:off x="8187624" y="3325118"/>
            <a:ext cx="310437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Networking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87624" y="3688655"/>
            <a:ext cx="3104378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WebRTC · PeerJS · ntfy.sh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9814" y="4588371"/>
            <a:ext cx="5286044" cy="993279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</p:sp>
      <p:sp>
        <p:nvSpPr>
          <p:cNvPr id="16" name="Text 14"/>
          <p:cNvSpPr/>
          <p:nvPr/>
        </p:nvSpPr>
        <p:spPr>
          <a:xfrm>
            <a:off x="899693" y="4768255"/>
            <a:ext cx="4926286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9693" y="5131792"/>
            <a:ext cx="4926286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WebAuthn · AES-256-GCM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85737" y="4588371"/>
            <a:ext cx="5286144" cy="993279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</p:sp>
      <p:sp>
        <p:nvSpPr>
          <p:cNvPr id="19" name="Text 17"/>
          <p:cNvSpPr/>
          <p:nvPr/>
        </p:nvSpPr>
        <p:spPr>
          <a:xfrm>
            <a:off x="6365617" y="4768255"/>
            <a:ext cx="4926385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65617" y="5131792"/>
            <a:ext cx="4926385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IndexedDB · Dexie.js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91700" y="629146"/>
            <a:ext cx="724279" cy="245963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88832" y="677664"/>
            <a:ext cx="1139598" cy="148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91700" y="933351"/>
            <a:ext cx="6180181" cy="460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Zero-Knowledge by Design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5291700" y="1612007"/>
            <a:ext cx="6180181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Spendly's security model ensures that no party — not the developer, not the merchant, not the network — ever sees your financial data. Privacy is not a feature. It is the foundation.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700" y="2237680"/>
            <a:ext cx="404902" cy="404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78762" y="2237680"/>
            <a:ext cx="5593119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Zero-Knowledge Architecture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878762" y="2555081"/>
            <a:ext cx="5593119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Transactions are validated cryptographically without revealing any underlying data to any third party.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1700" y="3308350"/>
            <a:ext cx="404902" cy="4049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78762" y="3308350"/>
            <a:ext cx="5593119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Offline-First Design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878762" y="3625751"/>
            <a:ext cx="5593119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core functionality operates without internet. Data never traverses an external network unless explicitly shared.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1700" y="4379020"/>
            <a:ext cx="404902" cy="4049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78762" y="4379020"/>
            <a:ext cx="5593119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WebAuthn + Biometric Unlock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878762" y="4696420"/>
            <a:ext cx="5593119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Device-level biometric authentication via WebAuthn ensures only the legitimate user can access financial data.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1700" y="5449689"/>
            <a:ext cx="404902" cy="4049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878762" y="5449689"/>
            <a:ext cx="5593119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AES-256-GCM Encryption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5878762" y="5767090"/>
            <a:ext cx="5593119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stored data is encrypted at rest using AES-256-GCM — the same standard used by governments and financial institutions.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658614"/>
            <a:ext cx="586070" cy="191294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318" y="696317"/>
            <a:ext cx="1044648" cy="115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19814" y="885130"/>
            <a:ext cx="10752067" cy="35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Features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19814" y="1375271"/>
            <a:ext cx="11361652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Spendly consolidates every financial interaction — personal and commercial — into a single, privacy-preserving ecosystem. No subscriptions. No cloud. No compromise.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4" y="1635026"/>
            <a:ext cx="5331981" cy="1195487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0202" y="1748334"/>
            <a:ext cx="151106" cy="1511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8419" y="2138859"/>
            <a:ext cx="5054771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Expense Tracking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58419" y="2370634"/>
            <a:ext cx="5054771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categorization and visualization of all personal spending — computed entirely on-device.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9900" y="1635026"/>
            <a:ext cx="5331981" cy="1195487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30287" y="1748334"/>
            <a:ext cx="151106" cy="15111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78505" y="2138859"/>
            <a:ext cx="5054771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Merchant Billing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6278505" y="2370634"/>
            <a:ext cx="5054771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point-of-sale functionality with QR invoice generation, no internet required.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9814" y="2918619"/>
            <a:ext cx="5331981" cy="103485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10202" y="3031927"/>
            <a:ext cx="151106" cy="151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58419" y="3422452"/>
            <a:ext cx="5054771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Inventory Management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858419" y="3654227"/>
            <a:ext cx="5054771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 stock levels, SKUs, and product metadata locally with instant lookup.</a:t>
            </a:r>
            <a:endParaRPr lang="en-US" sz="9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39900" y="2918619"/>
            <a:ext cx="5331981" cy="1034852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30287" y="3031927"/>
            <a:ext cx="151106" cy="15111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278505" y="3422452"/>
            <a:ext cx="5054771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Cash Wallet</a:t>
            </a:r>
            <a:endParaRPr lang="en-US" sz="1100" dirty="0"/>
          </a:p>
        </p:txBody>
      </p:sp>
      <p:sp>
        <p:nvSpPr>
          <p:cNvPr id="21" name="Text 11"/>
          <p:cNvSpPr/>
          <p:nvPr/>
        </p:nvSpPr>
        <p:spPr>
          <a:xfrm>
            <a:off x="6278505" y="3654227"/>
            <a:ext cx="5054771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 cash ledger for offline peer-to-peer transfers and balance tracking.</a:t>
            </a:r>
            <a:endParaRPr lang="en-US" sz="9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9814" y="4041577"/>
            <a:ext cx="5331981" cy="1034852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310202" y="4154884"/>
            <a:ext cx="151106" cy="15111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858419" y="4545409"/>
            <a:ext cx="5054771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EMI Reminder</a:t>
            </a:r>
            <a:endParaRPr lang="en-US" sz="1100" dirty="0"/>
          </a:p>
        </p:txBody>
      </p:sp>
      <p:sp>
        <p:nvSpPr>
          <p:cNvPr id="25" name="Text 13"/>
          <p:cNvSpPr/>
          <p:nvPr/>
        </p:nvSpPr>
        <p:spPr>
          <a:xfrm>
            <a:off x="858419" y="4777184"/>
            <a:ext cx="5054771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reminders for installment payments, managed without external notifications.</a:t>
            </a:r>
            <a:endParaRPr lang="en-US" sz="9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139900" y="4041577"/>
            <a:ext cx="5331981" cy="1034852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730287" y="4154884"/>
            <a:ext cx="151106" cy="15111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6278505" y="4545409"/>
            <a:ext cx="5054771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QR Invoice</a:t>
            </a:r>
            <a:endParaRPr lang="en-US" sz="1100" dirty="0"/>
          </a:p>
        </p:txBody>
      </p:sp>
      <p:sp>
        <p:nvSpPr>
          <p:cNvPr id="29" name="Text 15"/>
          <p:cNvSpPr/>
          <p:nvPr/>
        </p:nvSpPr>
        <p:spPr>
          <a:xfrm>
            <a:off x="6278505" y="4777184"/>
            <a:ext cx="5054771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Cryptographically signed invoices shared via QR code — verifiable without a server.</a:t>
            </a:r>
            <a:endParaRPr lang="en-US" sz="950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19814" y="5164534"/>
            <a:ext cx="5331981" cy="1034852"/>
          </a:xfrm>
          <a:prstGeom prst="rect">
            <a:avLst/>
          </a:prstGeom>
        </p:spPr>
      </p:pic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310202" y="5277842"/>
            <a:ext cx="151106" cy="151110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858419" y="5668367"/>
            <a:ext cx="5054771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Offline Synchronization</a:t>
            </a:r>
            <a:endParaRPr lang="en-US" sz="1100" dirty="0"/>
          </a:p>
        </p:txBody>
      </p:sp>
      <p:sp>
        <p:nvSpPr>
          <p:cNvPr id="33" name="Text 17"/>
          <p:cNvSpPr/>
          <p:nvPr/>
        </p:nvSpPr>
        <p:spPr>
          <a:xfrm>
            <a:off x="858419" y="5900142"/>
            <a:ext cx="5054771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Seamless peer-to-peer data sync when devices reconnect — no data loss, ever.</a:t>
            </a:r>
            <a:endParaRPr lang="en-US" sz="950" dirty="0"/>
          </a:p>
        </p:txBody>
      </p:sp>
      <p:pic>
        <p:nvPicPr>
          <p:cNvPr id="34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139900" y="5164534"/>
            <a:ext cx="5331981" cy="1034852"/>
          </a:xfrm>
          <a:prstGeom prst="rect">
            <a:avLst/>
          </a:prstGeom>
        </p:spPr>
      </p:pic>
      <p:pic>
        <p:nvPicPr>
          <p:cNvPr id="35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730287" y="5277842"/>
            <a:ext cx="151106" cy="151110"/>
          </a:xfrm>
          <a:prstGeom prst="rect">
            <a:avLst/>
          </a:prstGeom>
        </p:spPr>
      </p:pic>
      <p:sp>
        <p:nvSpPr>
          <p:cNvPr id="36" name="Text 18"/>
          <p:cNvSpPr/>
          <p:nvPr/>
        </p:nvSpPr>
        <p:spPr>
          <a:xfrm>
            <a:off x="6278505" y="5668367"/>
            <a:ext cx="5054771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37" name="Text 19"/>
          <p:cNvSpPr/>
          <p:nvPr/>
        </p:nvSpPr>
        <p:spPr>
          <a:xfrm>
            <a:off x="6278505" y="5900142"/>
            <a:ext cx="5054771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Privacy-safe spending insights and merchant reports generated locally from encrypted data.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749498"/>
            <a:ext cx="822602" cy="273447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7761" y="803473"/>
            <a:ext cx="1216292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1094879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Advantages &amp; Future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0138" y="1876028"/>
            <a:ext cx="5415819" cy="4232473"/>
          </a:xfrm>
          <a:prstGeom prst="roundRect">
            <a:avLst>
              <a:gd name="adj" fmla="val 638"/>
            </a:avLst>
          </a:prstGeom>
          <a:solidFill>
            <a:srgbClr val="1D1F22"/>
          </a:solidFill>
          <a:ln/>
        </p:spPr>
      </p:sp>
      <p:sp>
        <p:nvSpPr>
          <p:cNvPr id="6" name="Text 4"/>
          <p:cNvSpPr/>
          <p:nvPr/>
        </p:nvSpPr>
        <p:spPr>
          <a:xfrm>
            <a:off x="770017" y="2055912"/>
            <a:ext cx="505606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Current Advantages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0017" y="2491383"/>
            <a:ext cx="5056061" cy="241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Offline-First: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Fully functional without internet connectivity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Zero Server Cost: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No infrastructure expenses for merchants or users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Privacy: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Zero-knowledge architecture — no data ever leaves your device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Fast Billing: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Instant invoice generation with no network latency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Secure Communication: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Encrypted peer-to-peer channels via WebRTC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1763" y="2055912"/>
            <a:ext cx="515646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21763" y="2491383"/>
            <a:ext cx="5156468" cy="3554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AI Analytics: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On-device machine learning for spending pattern insights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Voice Billing: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Voice-activated merchant commands for hands-free operation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NFC Payments: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Contactless hardware-based peer-to-peer transactions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UPI Integration: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Seamless bridge to India's Unified Payments Interface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GST Compliance: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Automated tax invoice generation for registered merchants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Multi-Store: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Centralized management for merchant chains and franchises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946448"/>
            <a:ext cx="1025003" cy="273447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7761" y="1000423"/>
            <a:ext cx="141869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1291828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Future of Private Finance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9814" y="2072977"/>
            <a:ext cx="1075206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Spendly is more than a project — it is a statement. A declaration that financial privacy, offline resilience, and peer-to-peer trust are not luxuries reserved for the few, but rights owed to everyone. Built without servers. Protected by mathematics. Designed for the world as it 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9814" y="2815332"/>
            <a:ext cx="10752067" cy="126325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7" name="Shape 5"/>
          <p:cNvSpPr/>
          <p:nvPr/>
        </p:nvSpPr>
        <p:spPr>
          <a:xfrm>
            <a:off x="719814" y="2815332"/>
            <a:ext cx="3583989" cy="1263253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8" name="Text 6"/>
          <p:cNvSpPr/>
          <p:nvPr/>
        </p:nvSpPr>
        <p:spPr>
          <a:xfrm>
            <a:off x="899693" y="2995216"/>
            <a:ext cx="322423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Privacy-First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9693" y="3358753"/>
            <a:ext cx="3224231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Zero-knowledge architecture ensures your data is yours alone.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03803" y="2815332"/>
            <a:ext cx="3583989" cy="1263253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1" name="Shape 9"/>
          <p:cNvSpPr/>
          <p:nvPr/>
        </p:nvSpPr>
        <p:spPr>
          <a:xfrm>
            <a:off x="4303803" y="2815332"/>
            <a:ext cx="25399" cy="1263253"/>
          </a:xfrm>
          <a:prstGeom prst="roundRect">
            <a:avLst>
              <a:gd name="adj" fmla="val 106290"/>
            </a:avLst>
          </a:prstGeom>
          <a:solidFill>
            <a:srgbClr val="494A4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3682" y="2995216"/>
            <a:ext cx="322423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Offline-Ready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3682" y="3358753"/>
            <a:ext cx="3224231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Works anywhere — no internet, no cloud, no compromise.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87793" y="2815332"/>
            <a:ext cx="3584088" cy="1263253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5" name="Shape 13"/>
          <p:cNvSpPr/>
          <p:nvPr/>
        </p:nvSpPr>
        <p:spPr>
          <a:xfrm>
            <a:off x="7887793" y="2815332"/>
            <a:ext cx="25399" cy="1263253"/>
          </a:xfrm>
          <a:prstGeom prst="roundRect">
            <a:avLst>
              <a:gd name="adj" fmla="val 106290"/>
            </a:avLst>
          </a:prstGeom>
          <a:solidFill>
            <a:srgbClr val="494A4B"/>
          </a:solidFill>
          <a:ln/>
        </p:spPr>
      </p:sp>
      <p:sp>
        <p:nvSpPr>
          <p:cNvPr id="16" name="Text 14"/>
          <p:cNvSpPr/>
          <p:nvPr/>
        </p:nvSpPr>
        <p:spPr>
          <a:xfrm>
            <a:off x="8067672" y="2995216"/>
            <a:ext cx="3224330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Peer-to-Peer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67672" y="3358753"/>
            <a:ext cx="3224330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Direct, encrypted communication between users and merchants.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9814" y="4325938"/>
            <a:ext cx="10752067" cy="25400"/>
          </a:xfrm>
          <a:prstGeom prst="roundRect">
            <a:avLst>
              <a:gd name="adj" fmla="val 59999"/>
            </a:avLst>
          </a:prstGeom>
          <a:solidFill>
            <a:srgbClr val="E2E6E9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19814" y="4666159"/>
            <a:ext cx="10752067" cy="70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19814" y="5641578"/>
            <a:ext cx="11361652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Questions &amp; Answers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2026-07-23T17:34:04Z</dcterms:created>
  <dcterms:modified xsi:type="dcterms:W3CDTF">2026-07-23T17:34:04Z</dcterms:modified>
</cp:coreProperties>
</file>