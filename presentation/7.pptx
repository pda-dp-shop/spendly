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ontserrat Thin"/>
      <p:regular r:id="rId201314"/>
    </p:embeddedFont>
    <p:embeddedFont>
      <p:font typeface="Montserrat"/>
      <p:regular r:id="rId201315"/>
    </p:embeddedFont>
    <p:embeddedFont>
      <p:font typeface="Montserrat SemiBold"/>
      <p:regular r:id="rId201316"/>
    </p:embeddedFont>
    <p:embeddedFont>
      <p:font typeface="Montserrat Bold"/>
      <p:regular r:id="rId201317"/>
    </p:embeddedFont>
    <p:embeddedFont>
      <p:font typeface="Montserrat Black"/>
      <p:regular r:id="rId201318"/>
    </p:embeddedFont>
    <p:embeddedFont>
      <p:font typeface="Montserrat Light"/>
      <p:regular r:id="rId201319"/>
    </p:embeddedFont>
    <p:embeddedFont>
      <p:font typeface="Montserrat ExtraLight"/>
      <p:regular r:id="rId201320"/>
    </p:embeddedFont>
    <p:embeddedFont>
      <p:font typeface="Montserrat Medium"/>
      <p:regular r:id="rId201321"/>
    </p:embeddedFont>
    <p:embeddedFont>
      <p:font typeface="Montserrat ExtraBold"/>
      <p:regular r:id="rId201322"/>
    </p:embeddedFont>
    <p:embeddedFont>
      <p:font typeface="Source Sans 3 ExtraLight"/>
      <p:regular r:id="rId201323"/>
    </p:embeddedFont>
    <p:embeddedFont>
      <p:font typeface="Source Sans 3 Light"/>
      <p:regular r:id="rId201324"/>
    </p:embeddedFont>
    <p:embeddedFont>
      <p:font typeface="Source Sans 3"/>
      <p:regular r:id="rId201325"/>
    </p:embeddedFont>
    <p:embeddedFont>
      <p:font typeface="Source Sans 3 Medium"/>
      <p:regular r:id="rId201326"/>
    </p:embeddedFont>
    <p:embeddedFont>
      <p:font typeface="Source Sans 3 SemiBold"/>
      <p:regular r:id="rId201327"/>
    </p:embeddedFont>
    <p:embeddedFont>
      <p:font typeface="Source Sans 3 Bold"/>
      <p:regular r:id="rId201328"/>
    </p:embeddedFont>
    <p:embeddedFont>
      <p:font typeface="Source Sans 3 ExtraBold"/>
      <p:regular r:id="rId201329"/>
    </p:embeddedFont>
    <p:embeddedFont>
      <p:font typeface="Source Sans 3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4.png"/><Relationship Id="rId7" Type="http://schemas.openxmlformats.org/officeDocument/2006/relationships/image" Target="../media/image-3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2404170"/>
            <a:ext cx="6180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Spendly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719814" y="3297039"/>
            <a:ext cx="6180181" cy="1156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Offline-First · Zero-Knowledge · Peer-to-Peer Finance Ecosystem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 Name · Enrollment Number · Semester VII · Information Technology · College Name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422995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Problem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19814" y="2418755"/>
            <a:ext cx="1136165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Finance today demands trust in systems designed to fail you.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9814" y="2958604"/>
            <a:ext cx="3446872" cy="1135360"/>
          </a:xfrm>
          <a:prstGeom prst="roundRect">
            <a:avLst>
              <a:gd name="adj" fmla="val 2717"/>
            </a:avLst>
          </a:prstGeom>
          <a:solidFill>
            <a:srgbClr val="303132"/>
          </a:solidFill>
          <a:ln/>
        </p:spPr>
      </p:sp>
      <p:sp>
        <p:nvSpPr>
          <p:cNvPr id="5" name="Text 3"/>
          <p:cNvSpPr/>
          <p:nvPr/>
        </p:nvSpPr>
        <p:spPr>
          <a:xfrm>
            <a:off x="925489" y="3164284"/>
            <a:ext cx="303552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Privacy Risks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25489" y="3579813"/>
            <a:ext cx="303552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Your data is the product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72362" y="2958604"/>
            <a:ext cx="3446872" cy="1135360"/>
          </a:xfrm>
          <a:prstGeom prst="roundRect">
            <a:avLst>
              <a:gd name="adj" fmla="val 2717"/>
            </a:avLst>
          </a:prstGeom>
          <a:solidFill>
            <a:srgbClr val="303132"/>
          </a:solidFill>
          <a:ln/>
        </p:spPr>
      </p:sp>
      <p:sp>
        <p:nvSpPr>
          <p:cNvPr id="8" name="Text 6"/>
          <p:cNvSpPr/>
          <p:nvPr/>
        </p:nvSpPr>
        <p:spPr>
          <a:xfrm>
            <a:off x="4578037" y="3164284"/>
            <a:ext cx="303552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Cloud Dependency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8037" y="3579813"/>
            <a:ext cx="303552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Single points of failure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24909" y="2958604"/>
            <a:ext cx="3446872" cy="1135360"/>
          </a:xfrm>
          <a:prstGeom prst="roundRect">
            <a:avLst>
              <a:gd name="adj" fmla="val 2717"/>
            </a:avLst>
          </a:prstGeom>
          <a:solidFill>
            <a:srgbClr val="303132"/>
          </a:solidFill>
          <a:ln/>
        </p:spPr>
      </p:sp>
      <p:sp>
        <p:nvSpPr>
          <p:cNvPr id="11" name="Text 9"/>
          <p:cNvSpPr/>
          <p:nvPr/>
        </p:nvSpPr>
        <p:spPr>
          <a:xfrm>
            <a:off x="8230585" y="3164284"/>
            <a:ext cx="303552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Internet Required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30585" y="3579813"/>
            <a:ext cx="303552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connectivity, no finance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9814" y="4299645"/>
            <a:ext cx="5273146" cy="1135360"/>
          </a:xfrm>
          <a:prstGeom prst="roundRect">
            <a:avLst>
              <a:gd name="adj" fmla="val 2717"/>
            </a:avLst>
          </a:prstGeom>
          <a:solidFill>
            <a:srgbClr val="303132"/>
          </a:solidFill>
          <a:ln/>
        </p:spPr>
      </p:sp>
      <p:sp>
        <p:nvSpPr>
          <p:cNvPr id="14" name="Text 12"/>
          <p:cNvSpPr/>
          <p:nvPr/>
        </p:nvSpPr>
        <p:spPr>
          <a:xfrm>
            <a:off x="925489" y="4505325"/>
            <a:ext cx="486179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Centralized Databases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5489" y="4920853"/>
            <a:ext cx="4861796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Breaches are inevitable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8636" y="4299645"/>
            <a:ext cx="5273146" cy="1135360"/>
          </a:xfrm>
          <a:prstGeom prst="roundRect">
            <a:avLst>
              <a:gd name="adj" fmla="val 2717"/>
            </a:avLst>
          </a:prstGeom>
          <a:solidFill>
            <a:srgbClr val="30313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4311" y="4505325"/>
            <a:ext cx="486179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Monthly POS Costs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4311" y="4920853"/>
            <a:ext cx="4861796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Hardware is a barrier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573484"/>
            <a:ext cx="6180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Introducing Spendly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719814" y="1466354"/>
            <a:ext cx="6789766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Three applications. One ecosystem. Zero compromise.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2006203"/>
            <a:ext cx="6180181" cy="149463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2486" y="2237284"/>
            <a:ext cx="5616434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Spendly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052486" y="2652812"/>
            <a:ext cx="5616434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Personal finance &amp; expense tracking — offline-first, zero-knowledge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814" y="3706515"/>
            <a:ext cx="6180181" cy="11861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2486" y="3937595"/>
            <a:ext cx="5616434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Spendly Shop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052486" y="4353123"/>
            <a:ext cx="5616434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Merchant billing, inventory &amp; QR invoices — no POS hardware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9814" y="5098355"/>
            <a:ext cx="6180181" cy="11861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2486" y="5329436"/>
            <a:ext cx="5616434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Spendly Radar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1052486" y="5744964"/>
            <a:ext cx="5616434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Local offer discovery &amp; peer-to-peer coupon sharing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18133"/>
            <a:ext cx="10752067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Architecture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889" y="1681758"/>
            <a:ext cx="4032348" cy="4032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26972" y="1262559"/>
            <a:ext cx="278897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826972" y="1480542"/>
            <a:ext cx="4651259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826972" y="1588294"/>
            <a:ext cx="4651259" cy="198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React + PWA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26972" y="1880989"/>
            <a:ext cx="4651259" cy="17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Progressive Web App shell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26972" y="2255639"/>
            <a:ext cx="278897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826972" y="2473623"/>
            <a:ext cx="4651259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826972" y="2581374"/>
            <a:ext cx="4651259" cy="198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IndexedDB + Dexie.js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26972" y="2874070"/>
            <a:ext cx="4651259" cy="17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Offline-first local database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26972" y="3248720"/>
            <a:ext cx="278897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826972" y="3466703"/>
            <a:ext cx="4651259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6826972" y="3574455"/>
            <a:ext cx="4651259" cy="198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WebRTC + PeerJS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26972" y="3867150"/>
            <a:ext cx="4651259" cy="17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Direct peer-to-peer networking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26972" y="4241800"/>
            <a:ext cx="278897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826972" y="4459784"/>
            <a:ext cx="4651259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6826972" y="4567535"/>
            <a:ext cx="4651259" cy="198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Cloudflare Workers + KV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26972" y="4860230"/>
            <a:ext cx="4651259" cy="17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Edge compute &amp; key-value store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826972" y="5234880"/>
            <a:ext cx="278897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826972" y="5452864"/>
            <a:ext cx="4651259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6826972" y="5560616"/>
            <a:ext cx="4651259" cy="198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WebAuthn + AES-256-GCM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826972" y="5853311"/>
            <a:ext cx="4651259" cy="17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Biometric auth &amp; end-to-end encryption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524000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Working Flow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719814" y="3926880"/>
            <a:ext cx="10752067" cy="25400"/>
          </a:xfrm>
          <a:prstGeom prst="roundRect">
            <a:avLst>
              <a:gd name="adj" fmla="val 121469"/>
            </a:avLst>
          </a:prstGeom>
          <a:solidFill>
            <a:srgbClr val="494A4B"/>
          </a:solidFill>
          <a:ln/>
        </p:spPr>
      </p:sp>
      <p:sp>
        <p:nvSpPr>
          <p:cNvPr id="4" name="Shape 2"/>
          <p:cNvSpPr/>
          <p:nvPr/>
        </p:nvSpPr>
        <p:spPr>
          <a:xfrm>
            <a:off x="1679434" y="3309838"/>
            <a:ext cx="25399" cy="617041"/>
          </a:xfrm>
          <a:prstGeom prst="roundRect">
            <a:avLst>
              <a:gd name="adj" fmla="val 121474"/>
            </a:avLst>
          </a:prstGeom>
          <a:solidFill>
            <a:srgbClr val="494A4B"/>
          </a:solidFill>
          <a:ln/>
        </p:spPr>
      </p:sp>
      <p:sp>
        <p:nvSpPr>
          <p:cNvPr id="5" name="Shape 3"/>
          <p:cNvSpPr/>
          <p:nvPr/>
        </p:nvSpPr>
        <p:spPr>
          <a:xfrm>
            <a:off x="1460761" y="3695502"/>
            <a:ext cx="462745" cy="462756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6" name="Text 4"/>
          <p:cNvSpPr/>
          <p:nvPr/>
        </p:nvSpPr>
        <p:spPr>
          <a:xfrm>
            <a:off x="1551941" y="3751610"/>
            <a:ext cx="280385" cy="3505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25489" y="2519759"/>
            <a:ext cx="1533387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Discover Offers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80337" y="3926880"/>
            <a:ext cx="25399" cy="617041"/>
          </a:xfrm>
          <a:prstGeom prst="roundRect">
            <a:avLst>
              <a:gd name="adj" fmla="val 121474"/>
            </a:avLst>
          </a:prstGeom>
          <a:solidFill>
            <a:srgbClr val="494A4B"/>
          </a:solidFill>
          <a:ln/>
        </p:spPr>
      </p:sp>
      <p:sp>
        <p:nvSpPr>
          <p:cNvPr id="9" name="Shape 7"/>
          <p:cNvSpPr/>
          <p:nvPr/>
        </p:nvSpPr>
        <p:spPr>
          <a:xfrm>
            <a:off x="2561665" y="3695502"/>
            <a:ext cx="462745" cy="462756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0" name="Text 8"/>
          <p:cNvSpPr/>
          <p:nvPr/>
        </p:nvSpPr>
        <p:spPr>
          <a:xfrm>
            <a:off x="2652845" y="3751610"/>
            <a:ext cx="280385" cy="3505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26393" y="4749602"/>
            <a:ext cx="1533387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Claim Coupon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81241" y="3309838"/>
            <a:ext cx="25399" cy="617041"/>
          </a:xfrm>
          <a:prstGeom prst="roundRect">
            <a:avLst>
              <a:gd name="adj" fmla="val 121474"/>
            </a:avLst>
          </a:prstGeom>
          <a:solidFill>
            <a:srgbClr val="494A4B"/>
          </a:solidFill>
          <a:ln/>
        </p:spPr>
      </p:sp>
      <p:sp>
        <p:nvSpPr>
          <p:cNvPr id="13" name="Shape 11"/>
          <p:cNvSpPr/>
          <p:nvPr/>
        </p:nvSpPr>
        <p:spPr>
          <a:xfrm>
            <a:off x="3662569" y="3695502"/>
            <a:ext cx="462745" cy="462756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4" name="Text 12"/>
          <p:cNvSpPr/>
          <p:nvPr/>
        </p:nvSpPr>
        <p:spPr>
          <a:xfrm>
            <a:off x="3753748" y="3751610"/>
            <a:ext cx="280385" cy="3505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127297" y="2519759"/>
            <a:ext cx="1533387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Scan Product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82145" y="3926880"/>
            <a:ext cx="25399" cy="617041"/>
          </a:xfrm>
          <a:prstGeom prst="roundRect">
            <a:avLst>
              <a:gd name="adj" fmla="val 121474"/>
            </a:avLst>
          </a:prstGeom>
          <a:solidFill>
            <a:srgbClr val="494A4B"/>
          </a:solidFill>
          <a:ln/>
        </p:spPr>
      </p:sp>
      <p:sp>
        <p:nvSpPr>
          <p:cNvPr id="17" name="Shape 15"/>
          <p:cNvSpPr/>
          <p:nvPr/>
        </p:nvSpPr>
        <p:spPr>
          <a:xfrm>
            <a:off x="4763472" y="3695502"/>
            <a:ext cx="462745" cy="462756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8" name="Text 16"/>
          <p:cNvSpPr/>
          <p:nvPr/>
        </p:nvSpPr>
        <p:spPr>
          <a:xfrm>
            <a:off x="4854652" y="3751610"/>
            <a:ext cx="280385" cy="3505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228200" y="4749602"/>
            <a:ext cx="1533387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Product Lookup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083049" y="3309838"/>
            <a:ext cx="25399" cy="617041"/>
          </a:xfrm>
          <a:prstGeom prst="roundRect">
            <a:avLst>
              <a:gd name="adj" fmla="val 121474"/>
            </a:avLst>
          </a:prstGeom>
          <a:solidFill>
            <a:srgbClr val="494A4B"/>
          </a:solidFill>
          <a:ln/>
        </p:spPr>
      </p:sp>
      <p:sp>
        <p:nvSpPr>
          <p:cNvPr id="21" name="Shape 19"/>
          <p:cNvSpPr/>
          <p:nvPr/>
        </p:nvSpPr>
        <p:spPr>
          <a:xfrm>
            <a:off x="5864376" y="3695502"/>
            <a:ext cx="462745" cy="462756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22" name="Text 20"/>
          <p:cNvSpPr/>
          <p:nvPr/>
        </p:nvSpPr>
        <p:spPr>
          <a:xfrm>
            <a:off x="5955556" y="3751610"/>
            <a:ext cx="280385" cy="3505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29104" y="2519759"/>
            <a:ext cx="1533387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Offer Validation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183952" y="3926880"/>
            <a:ext cx="25399" cy="617041"/>
          </a:xfrm>
          <a:prstGeom prst="roundRect">
            <a:avLst>
              <a:gd name="adj" fmla="val 121474"/>
            </a:avLst>
          </a:prstGeom>
          <a:solidFill>
            <a:srgbClr val="494A4B"/>
          </a:solidFill>
          <a:ln/>
        </p:spPr>
      </p:sp>
      <p:sp>
        <p:nvSpPr>
          <p:cNvPr id="25" name="Shape 23"/>
          <p:cNvSpPr/>
          <p:nvPr/>
        </p:nvSpPr>
        <p:spPr>
          <a:xfrm>
            <a:off x="6965280" y="3695502"/>
            <a:ext cx="462745" cy="462756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26" name="Text 24"/>
          <p:cNvSpPr/>
          <p:nvPr/>
        </p:nvSpPr>
        <p:spPr>
          <a:xfrm>
            <a:off x="7056459" y="3751610"/>
            <a:ext cx="280385" cy="3505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30008" y="4749602"/>
            <a:ext cx="1533387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Invoice Generation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284856" y="3309838"/>
            <a:ext cx="25399" cy="617041"/>
          </a:xfrm>
          <a:prstGeom prst="roundRect">
            <a:avLst>
              <a:gd name="adj" fmla="val 121474"/>
            </a:avLst>
          </a:prstGeom>
          <a:solidFill>
            <a:srgbClr val="494A4B"/>
          </a:solidFill>
          <a:ln/>
        </p:spPr>
      </p:sp>
      <p:sp>
        <p:nvSpPr>
          <p:cNvPr id="29" name="Shape 27"/>
          <p:cNvSpPr/>
          <p:nvPr/>
        </p:nvSpPr>
        <p:spPr>
          <a:xfrm>
            <a:off x="8066183" y="3695502"/>
            <a:ext cx="462745" cy="462756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30" name="Text 28"/>
          <p:cNvSpPr/>
          <p:nvPr/>
        </p:nvSpPr>
        <p:spPr>
          <a:xfrm>
            <a:off x="8157363" y="3751610"/>
            <a:ext cx="280385" cy="3505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530912" y="2519759"/>
            <a:ext cx="1533387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Invoice Sharing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385760" y="3926880"/>
            <a:ext cx="25399" cy="617041"/>
          </a:xfrm>
          <a:prstGeom prst="roundRect">
            <a:avLst>
              <a:gd name="adj" fmla="val 121474"/>
            </a:avLst>
          </a:prstGeom>
          <a:solidFill>
            <a:srgbClr val="494A4B"/>
          </a:solidFill>
          <a:ln/>
        </p:spPr>
      </p:sp>
      <p:sp>
        <p:nvSpPr>
          <p:cNvPr id="33" name="Shape 31"/>
          <p:cNvSpPr/>
          <p:nvPr/>
        </p:nvSpPr>
        <p:spPr>
          <a:xfrm>
            <a:off x="9167087" y="3695502"/>
            <a:ext cx="462745" cy="462756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34" name="Text 32"/>
          <p:cNvSpPr/>
          <p:nvPr/>
        </p:nvSpPr>
        <p:spPr>
          <a:xfrm>
            <a:off x="9258267" y="3751610"/>
            <a:ext cx="280385" cy="3505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631815" y="4749602"/>
            <a:ext cx="1533387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Local Storage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486663" y="3309838"/>
            <a:ext cx="25399" cy="617041"/>
          </a:xfrm>
          <a:prstGeom prst="roundRect">
            <a:avLst>
              <a:gd name="adj" fmla="val 121474"/>
            </a:avLst>
          </a:prstGeom>
          <a:solidFill>
            <a:srgbClr val="494A4B"/>
          </a:solidFill>
          <a:ln/>
        </p:spPr>
      </p:sp>
      <p:sp>
        <p:nvSpPr>
          <p:cNvPr id="37" name="Shape 35"/>
          <p:cNvSpPr/>
          <p:nvPr/>
        </p:nvSpPr>
        <p:spPr>
          <a:xfrm>
            <a:off x="10267991" y="3695502"/>
            <a:ext cx="462745" cy="462756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38" name="Text 36"/>
          <p:cNvSpPr/>
          <p:nvPr/>
        </p:nvSpPr>
        <p:spPr>
          <a:xfrm>
            <a:off x="10359171" y="3751610"/>
            <a:ext cx="280385" cy="3505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732719" y="2519759"/>
            <a:ext cx="1533387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Analytics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72195"/>
            <a:ext cx="10752067" cy="501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Technology Stack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876" y="1470720"/>
            <a:ext cx="4644710" cy="464482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17397" y="2018109"/>
            <a:ext cx="2504715" cy="1246287"/>
          </a:xfrm>
          <a:prstGeom prst="roundRect">
            <a:avLst>
              <a:gd name="adj" fmla="val 2124"/>
            </a:avLst>
          </a:prstGeom>
          <a:solidFill>
            <a:srgbClr val="303132"/>
          </a:solidFill>
          <a:ln/>
        </p:spPr>
      </p:sp>
      <p:sp>
        <p:nvSpPr>
          <p:cNvPr id="5" name="Text 2"/>
          <p:cNvSpPr/>
          <p:nvPr/>
        </p:nvSpPr>
        <p:spPr>
          <a:xfrm>
            <a:off x="6493804" y="2194520"/>
            <a:ext cx="2151902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Frontend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493804" y="2596455"/>
            <a:ext cx="2151902" cy="491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· Vite · Tailwind CSS · Zustand · Framer Motion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973417" y="2018109"/>
            <a:ext cx="2504814" cy="1246287"/>
          </a:xfrm>
          <a:prstGeom prst="roundRect">
            <a:avLst>
              <a:gd name="adj" fmla="val 2124"/>
            </a:avLst>
          </a:prstGeom>
          <a:solidFill>
            <a:srgbClr val="303132"/>
          </a:solidFill>
          <a:ln/>
        </p:spPr>
      </p:sp>
      <p:sp>
        <p:nvSpPr>
          <p:cNvPr id="8" name="Text 5"/>
          <p:cNvSpPr/>
          <p:nvPr/>
        </p:nvSpPr>
        <p:spPr>
          <a:xfrm>
            <a:off x="9149823" y="2194520"/>
            <a:ext cx="2152001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49823" y="2596455"/>
            <a:ext cx="2152001" cy="491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Cloudflare Workers · Worker KV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17397" y="3415705"/>
            <a:ext cx="2504715" cy="1000522"/>
          </a:xfrm>
          <a:prstGeom prst="roundRect">
            <a:avLst>
              <a:gd name="adj" fmla="val 2645"/>
            </a:avLst>
          </a:prstGeom>
          <a:solidFill>
            <a:srgbClr val="303132"/>
          </a:solidFill>
          <a:ln/>
        </p:spPr>
      </p:sp>
      <p:sp>
        <p:nvSpPr>
          <p:cNvPr id="11" name="Text 8"/>
          <p:cNvSpPr/>
          <p:nvPr/>
        </p:nvSpPr>
        <p:spPr>
          <a:xfrm>
            <a:off x="6493804" y="3592116"/>
            <a:ext cx="2151902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Networking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493804" y="3994051"/>
            <a:ext cx="2151902" cy="245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WebRTC · PeerJS · ntfy.sh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973417" y="3415705"/>
            <a:ext cx="2504814" cy="1000522"/>
          </a:xfrm>
          <a:prstGeom prst="roundRect">
            <a:avLst>
              <a:gd name="adj" fmla="val 2645"/>
            </a:avLst>
          </a:prstGeom>
          <a:solidFill>
            <a:srgbClr val="303132"/>
          </a:solidFill>
          <a:ln/>
        </p:spPr>
      </p:sp>
      <p:sp>
        <p:nvSpPr>
          <p:cNvPr id="14" name="Text 11"/>
          <p:cNvSpPr/>
          <p:nvPr/>
        </p:nvSpPr>
        <p:spPr>
          <a:xfrm>
            <a:off x="9149823" y="3592116"/>
            <a:ext cx="2152001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Security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9149823" y="3994051"/>
            <a:ext cx="2152001" cy="245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WebAuthn · AES-256-GCM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317397" y="4567535"/>
            <a:ext cx="5160833" cy="1000522"/>
          </a:xfrm>
          <a:prstGeom prst="roundRect">
            <a:avLst>
              <a:gd name="adj" fmla="val 2645"/>
            </a:avLst>
          </a:prstGeom>
          <a:solidFill>
            <a:srgbClr val="303132"/>
          </a:solidFill>
          <a:ln/>
        </p:spPr>
      </p:sp>
      <p:sp>
        <p:nvSpPr>
          <p:cNvPr id="17" name="Text 14"/>
          <p:cNvSpPr/>
          <p:nvPr/>
        </p:nvSpPr>
        <p:spPr>
          <a:xfrm>
            <a:off x="6493804" y="4743946"/>
            <a:ext cx="480802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493804" y="5145881"/>
            <a:ext cx="4808020" cy="245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IndexedDB · Dexie.js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26083"/>
            <a:ext cx="10752067" cy="496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Security by Design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19814" y="1519932"/>
            <a:ext cx="11361652" cy="242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Your data never leaves your device. No exceptions.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14" y="1929606"/>
            <a:ext cx="437048" cy="4370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9814" y="2552402"/>
            <a:ext cx="5283167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Zero-Knowledge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19814" y="2889746"/>
            <a:ext cx="5283167" cy="242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Server knows nothing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8714" y="1929606"/>
            <a:ext cx="437048" cy="4370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88714" y="2552402"/>
            <a:ext cx="5283167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Offline-First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188714" y="2889746"/>
            <a:ext cx="5283167" cy="242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Works without internet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814" y="3429397"/>
            <a:ext cx="437048" cy="4370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9814" y="4052193"/>
            <a:ext cx="5283167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WebAuthn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19814" y="4389537"/>
            <a:ext cx="5283167" cy="242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Biometric unlock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8714" y="3429397"/>
            <a:ext cx="437048" cy="4370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88714" y="4052193"/>
            <a:ext cx="5283167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AES-256-GCM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6188714" y="4389537"/>
            <a:ext cx="5283167" cy="242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Military-grade encryption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9814" y="4929188"/>
            <a:ext cx="437048" cy="43705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9814" y="5551984"/>
            <a:ext cx="5283167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Secure Enclave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719814" y="5889327"/>
            <a:ext cx="5283167" cy="242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Hardware-backed isolation</a:t>
            </a:r>
            <a:endParaRPr lang="en-US" sz="13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8714" y="4929188"/>
            <a:ext cx="437048" cy="43705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88714" y="5551984"/>
            <a:ext cx="5283167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IndexedDB</a:t>
            </a:r>
            <a:endParaRPr lang="en-US" sz="1550" dirty="0"/>
          </a:p>
        </p:txBody>
      </p:sp>
      <p:sp>
        <p:nvSpPr>
          <p:cNvPr id="21" name="Text 13"/>
          <p:cNvSpPr/>
          <p:nvPr/>
        </p:nvSpPr>
        <p:spPr>
          <a:xfrm>
            <a:off x="6188714" y="5889327"/>
            <a:ext cx="5283167" cy="242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Encrypted local storage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08819"/>
            <a:ext cx="10752067" cy="43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Features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719814" y="1378446"/>
            <a:ext cx="5318190" cy="1105892"/>
          </a:xfrm>
          <a:prstGeom prst="roundRect">
            <a:avLst>
              <a:gd name="adj" fmla="val 2092"/>
            </a:avLst>
          </a:prstGeom>
          <a:solidFill>
            <a:srgbClr val="303132"/>
          </a:solidFill>
          <a:ln/>
        </p:spPr>
      </p:sp>
      <p:sp>
        <p:nvSpPr>
          <p:cNvPr id="4" name="Shape 2"/>
          <p:cNvSpPr/>
          <p:nvPr/>
        </p:nvSpPr>
        <p:spPr>
          <a:xfrm>
            <a:off x="873996" y="1532632"/>
            <a:ext cx="462745" cy="46275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1191" y="1659830"/>
            <a:ext cx="208255" cy="2082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3996" y="2111077"/>
            <a:ext cx="500982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Expense Tracking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153691" y="1378446"/>
            <a:ext cx="5318190" cy="1105892"/>
          </a:xfrm>
          <a:prstGeom prst="roundRect">
            <a:avLst>
              <a:gd name="adj" fmla="val 2092"/>
            </a:avLst>
          </a:prstGeom>
          <a:solidFill>
            <a:srgbClr val="303132"/>
          </a:solidFill>
          <a:ln/>
        </p:spPr>
      </p:sp>
      <p:sp>
        <p:nvSpPr>
          <p:cNvPr id="8" name="Shape 5"/>
          <p:cNvSpPr/>
          <p:nvPr/>
        </p:nvSpPr>
        <p:spPr>
          <a:xfrm>
            <a:off x="6307873" y="1532632"/>
            <a:ext cx="462745" cy="46275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5068" y="1659830"/>
            <a:ext cx="208255" cy="2082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07873" y="2111077"/>
            <a:ext cx="500982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Merchant Billing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19814" y="2600027"/>
            <a:ext cx="5318190" cy="1105892"/>
          </a:xfrm>
          <a:prstGeom prst="roundRect">
            <a:avLst>
              <a:gd name="adj" fmla="val 2092"/>
            </a:avLst>
          </a:prstGeom>
          <a:solidFill>
            <a:srgbClr val="303132"/>
          </a:solidFill>
          <a:ln/>
        </p:spPr>
      </p:sp>
      <p:sp>
        <p:nvSpPr>
          <p:cNvPr id="12" name="Shape 8"/>
          <p:cNvSpPr/>
          <p:nvPr/>
        </p:nvSpPr>
        <p:spPr>
          <a:xfrm>
            <a:off x="873996" y="2754213"/>
            <a:ext cx="462745" cy="46275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1191" y="2881412"/>
            <a:ext cx="208255" cy="2082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3996" y="3332659"/>
            <a:ext cx="500982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Inventory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153691" y="2600027"/>
            <a:ext cx="5318190" cy="1105892"/>
          </a:xfrm>
          <a:prstGeom prst="roundRect">
            <a:avLst>
              <a:gd name="adj" fmla="val 2092"/>
            </a:avLst>
          </a:prstGeom>
          <a:solidFill>
            <a:srgbClr val="303132"/>
          </a:solidFill>
          <a:ln/>
        </p:spPr>
      </p:sp>
      <p:sp>
        <p:nvSpPr>
          <p:cNvPr id="16" name="Shape 11"/>
          <p:cNvSpPr/>
          <p:nvPr/>
        </p:nvSpPr>
        <p:spPr>
          <a:xfrm>
            <a:off x="6307873" y="2754213"/>
            <a:ext cx="462745" cy="46275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5068" y="2881412"/>
            <a:ext cx="208255" cy="2082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07873" y="3332659"/>
            <a:ext cx="500982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Cash Wallet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719814" y="3821609"/>
            <a:ext cx="5318190" cy="1105892"/>
          </a:xfrm>
          <a:prstGeom prst="roundRect">
            <a:avLst>
              <a:gd name="adj" fmla="val 2092"/>
            </a:avLst>
          </a:prstGeom>
          <a:solidFill>
            <a:srgbClr val="303132"/>
          </a:solidFill>
          <a:ln/>
        </p:spPr>
      </p:sp>
      <p:sp>
        <p:nvSpPr>
          <p:cNvPr id="20" name="Shape 14"/>
          <p:cNvSpPr/>
          <p:nvPr/>
        </p:nvSpPr>
        <p:spPr>
          <a:xfrm>
            <a:off x="873996" y="3975795"/>
            <a:ext cx="462745" cy="46275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1191" y="4102993"/>
            <a:ext cx="208255" cy="2082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73996" y="4554240"/>
            <a:ext cx="500982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EMI Reminder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6153691" y="3821609"/>
            <a:ext cx="5318190" cy="1105892"/>
          </a:xfrm>
          <a:prstGeom prst="roundRect">
            <a:avLst>
              <a:gd name="adj" fmla="val 2092"/>
            </a:avLst>
          </a:prstGeom>
          <a:solidFill>
            <a:srgbClr val="303132"/>
          </a:solidFill>
          <a:ln/>
        </p:spPr>
      </p:sp>
      <p:sp>
        <p:nvSpPr>
          <p:cNvPr id="24" name="Shape 17"/>
          <p:cNvSpPr/>
          <p:nvPr/>
        </p:nvSpPr>
        <p:spPr>
          <a:xfrm>
            <a:off x="6307873" y="3975795"/>
            <a:ext cx="462745" cy="46275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35068" y="4102993"/>
            <a:ext cx="208255" cy="2082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307873" y="4554240"/>
            <a:ext cx="500982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QR Invoice</a:t>
            </a:r>
            <a:endParaRPr lang="en-US" sz="1350" dirty="0"/>
          </a:p>
        </p:txBody>
      </p:sp>
      <p:sp>
        <p:nvSpPr>
          <p:cNvPr id="27" name="Shape 19"/>
          <p:cNvSpPr/>
          <p:nvPr/>
        </p:nvSpPr>
        <p:spPr>
          <a:xfrm>
            <a:off x="719814" y="5043190"/>
            <a:ext cx="5318190" cy="1105892"/>
          </a:xfrm>
          <a:prstGeom prst="roundRect">
            <a:avLst>
              <a:gd name="adj" fmla="val 2092"/>
            </a:avLst>
          </a:prstGeom>
          <a:solidFill>
            <a:srgbClr val="303132"/>
          </a:solidFill>
          <a:ln/>
        </p:spPr>
      </p:sp>
      <p:sp>
        <p:nvSpPr>
          <p:cNvPr id="28" name="Shape 20"/>
          <p:cNvSpPr/>
          <p:nvPr/>
        </p:nvSpPr>
        <p:spPr>
          <a:xfrm>
            <a:off x="873996" y="5197376"/>
            <a:ext cx="462745" cy="46275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1191" y="5324574"/>
            <a:ext cx="208255" cy="2082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73996" y="5775821"/>
            <a:ext cx="500982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Offline Sync</a:t>
            </a:r>
            <a:endParaRPr lang="en-US" sz="1350" dirty="0"/>
          </a:p>
        </p:txBody>
      </p:sp>
      <p:sp>
        <p:nvSpPr>
          <p:cNvPr id="31" name="Shape 22"/>
          <p:cNvSpPr/>
          <p:nvPr/>
        </p:nvSpPr>
        <p:spPr>
          <a:xfrm>
            <a:off x="6153691" y="5043190"/>
            <a:ext cx="5318190" cy="1105892"/>
          </a:xfrm>
          <a:prstGeom prst="roundRect">
            <a:avLst>
              <a:gd name="adj" fmla="val 2092"/>
            </a:avLst>
          </a:prstGeom>
          <a:solidFill>
            <a:srgbClr val="303132"/>
          </a:solidFill>
          <a:ln/>
        </p:spPr>
      </p:sp>
      <p:sp>
        <p:nvSpPr>
          <p:cNvPr id="32" name="Shape 23"/>
          <p:cNvSpPr/>
          <p:nvPr/>
        </p:nvSpPr>
        <p:spPr>
          <a:xfrm>
            <a:off x="6307873" y="5197376"/>
            <a:ext cx="462745" cy="46275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35068" y="5324574"/>
            <a:ext cx="208255" cy="20826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307873" y="5775821"/>
            <a:ext cx="500982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Analytics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96999"/>
            <a:ext cx="10752067" cy="496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Advantages &amp; Future Scope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055" y="1594445"/>
            <a:ext cx="4388336" cy="43884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15413" y="1483717"/>
            <a:ext cx="599266" cy="265609"/>
          </a:xfrm>
          <a:prstGeom prst="roundRect">
            <a:avLst>
              <a:gd name="adj" fmla="val 7899"/>
            </a:avLst>
          </a:prstGeom>
          <a:solidFill>
            <a:srgbClr val="262626"/>
          </a:solidFill>
          <a:ln/>
        </p:spPr>
      </p:sp>
      <p:sp>
        <p:nvSpPr>
          <p:cNvPr id="5" name="Text 2"/>
          <p:cNvSpPr/>
          <p:nvPr/>
        </p:nvSpPr>
        <p:spPr>
          <a:xfrm>
            <a:off x="6420285" y="1536105"/>
            <a:ext cx="999108" cy="160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315413" y="1808758"/>
            <a:ext cx="5162818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Advantages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315413" y="2205534"/>
            <a:ext cx="5162818" cy="1420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Offline-first architecture</a:t>
            </a:r>
            <a:endParaRPr lang="en-US" sz="1350" dirty="0"/>
          </a:p>
          <a:p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Zero server cost</a:t>
            </a:r>
            <a:endParaRPr lang="en-US" sz="1350" dirty="0"/>
          </a:p>
          <a:p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Privacy by design</a:t>
            </a:r>
            <a:endParaRPr lang="en-US" sz="1350" dirty="0"/>
          </a:p>
          <a:p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 billing</a:t>
            </a:r>
            <a:endParaRPr lang="en-US" sz="1350" dirty="0"/>
          </a:p>
          <a:p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communication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15413" y="3836789"/>
            <a:ext cx="5162818" cy="19050"/>
          </a:xfrm>
          <a:prstGeom prst="roundRect">
            <a:avLst>
              <a:gd name="adj" fmla="val 59999"/>
            </a:avLst>
          </a:prstGeom>
          <a:solidFill>
            <a:srgbClr val="E2E6E9">
              <a:alpha val="5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315413" y="4066679"/>
            <a:ext cx="929557" cy="26560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20285" y="4119066"/>
            <a:ext cx="1329399" cy="160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TOMORROW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15413" y="4391720"/>
            <a:ext cx="5162818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Scope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315413" y="4788495"/>
            <a:ext cx="5162818" cy="1420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analytics</a:t>
            </a:r>
            <a:endParaRPr lang="en-US" sz="1350" dirty="0"/>
          </a:p>
          <a:p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Voice billing</a:t>
            </a:r>
            <a:endParaRPr lang="en-US" sz="1350" dirty="0"/>
          </a:p>
          <a:p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NFC payments</a:t>
            </a:r>
            <a:endParaRPr lang="en-US" sz="1350" dirty="0"/>
          </a:p>
          <a:p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UPI integration</a:t>
            </a:r>
            <a:endParaRPr lang="en-US" sz="1350" dirty="0"/>
          </a:p>
          <a:p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GST &amp; multi-store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1662013"/>
            <a:ext cx="6180181" cy="806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Spendly</a:t>
            </a:r>
            <a:endParaRPr lang="en-US" sz="5050" dirty="0"/>
          </a:p>
        </p:txBody>
      </p:sp>
      <p:sp>
        <p:nvSpPr>
          <p:cNvPr id="4" name="Text 1"/>
          <p:cNvSpPr/>
          <p:nvPr/>
        </p:nvSpPr>
        <p:spPr>
          <a:xfrm>
            <a:off x="719814" y="2776835"/>
            <a:ext cx="6180181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privacy-first, offline financial ecosystem built on zero-knowledge architecture and peer-to-peer communication.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9814" y="3676551"/>
            <a:ext cx="6180181" cy="25400"/>
          </a:xfrm>
          <a:prstGeom prst="roundRect">
            <a:avLst>
              <a:gd name="adj" fmla="val 59999"/>
            </a:avLst>
          </a:prstGeom>
          <a:solidFill>
            <a:srgbClr val="E2E6E9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19814" y="4061817"/>
            <a:ext cx="6180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Thank You</a:t>
            </a:r>
            <a:endParaRPr lang="en-US" sz="3650" dirty="0"/>
          </a:p>
        </p:txBody>
      </p:sp>
      <p:sp>
        <p:nvSpPr>
          <p:cNvPr id="7" name="Text 4"/>
          <p:cNvSpPr/>
          <p:nvPr/>
        </p:nvSpPr>
        <p:spPr>
          <a:xfrm>
            <a:off x="719814" y="4728468"/>
            <a:ext cx="6180181" cy="467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Questions &amp; Answers</a:t>
            </a:r>
            <a:endParaRPr lang="en-US" sz="2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2026-07-23T16:51:56Z</dcterms:created>
  <dcterms:modified xsi:type="dcterms:W3CDTF">2026-07-23T16:51:56Z</dcterms:modified>
</cp:coreProperties>
</file>